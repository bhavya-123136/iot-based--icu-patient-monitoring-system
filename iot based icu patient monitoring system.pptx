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0" r:id="rId3"/>
    <p:sldId id="261" r:id="rId4"/>
    <p:sldId id="269" r:id="rId5"/>
    <p:sldId id="262" r:id="rId6"/>
    <p:sldId id="263" r:id="rId7"/>
    <p:sldId id="264" r:id="rId8"/>
    <p:sldId id="265" r:id="rId9"/>
    <p:sldId id="270" r:id="rId10"/>
    <p:sldId id="271" r:id="rId11"/>
    <p:sldId id="272"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169C4-2B0C-4D78-88F2-138A4C22DF6D}" type="datetimeFigureOut">
              <a:rPr lang="en-IN" smtClean="0"/>
              <a:t>06-09-2024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7D87CF-9E1A-4611-B5D1-F4FF7ABB6509}" type="slidenum">
              <a:rPr lang="en-IN" smtClean="0"/>
              <a:t>‹#›</a:t>
            </a:fld>
            <a:endParaRPr lang="en-IN"/>
          </a:p>
        </p:txBody>
      </p:sp>
    </p:spTree>
    <p:extLst>
      <p:ext uri="{BB962C8B-B14F-4D97-AF65-F5344CB8AC3E}">
        <p14:creationId xmlns:p14="http://schemas.microsoft.com/office/powerpoint/2010/main" val="1761219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43DE13-EFE1-3C9E-0522-B44048B5BA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AF68B79E-4459-BED7-C0AB-E396010248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244084ED-20D2-6902-7AE2-EE838785C0FF}"/>
              </a:ext>
            </a:extLst>
          </p:cNvPr>
          <p:cNvSpPr>
            <a:spLocks noGrp="1"/>
          </p:cNvSpPr>
          <p:nvPr>
            <p:ph type="dt" sz="half" idx="10"/>
          </p:nvPr>
        </p:nvSpPr>
        <p:spPr/>
        <p:txBody>
          <a:bodyPr/>
          <a:lstStyle/>
          <a:p>
            <a:fld id="{EBABB92F-90B2-4D7E-9BE9-5F3D42691AF5}" type="datetime1">
              <a:rPr lang="en-IN" smtClean="0"/>
              <a:t>06-09-2024</a:t>
            </a:fld>
            <a:endParaRPr lang="en-IN"/>
          </a:p>
        </p:txBody>
      </p:sp>
      <p:sp>
        <p:nvSpPr>
          <p:cNvPr id="5" name="Footer Placeholder 4">
            <a:extLst>
              <a:ext uri="{FF2B5EF4-FFF2-40B4-BE49-F238E27FC236}">
                <a16:creationId xmlns:a16="http://schemas.microsoft.com/office/drawing/2014/main" xmlns="" id="{C5090874-0E57-F0D4-3A4C-53CC64ADC9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C3CFAA1-0613-96D3-83B2-B01A68996D45}"/>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178025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BCD36A-0E91-1DBC-46EA-0CA5516ACF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D923130-3554-CBEB-725C-10105CFE2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4A9964C-5A1E-5818-55AC-A9DAA6F138C3}"/>
              </a:ext>
            </a:extLst>
          </p:cNvPr>
          <p:cNvSpPr>
            <a:spLocks noGrp="1"/>
          </p:cNvSpPr>
          <p:nvPr>
            <p:ph type="dt" sz="half" idx="10"/>
          </p:nvPr>
        </p:nvSpPr>
        <p:spPr/>
        <p:txBody>
          <a:bodyPr/>
          <a:lstStyle/>
          <a:p>
            <a:fld id="{AA756E84-2239-4073-BFF1-93B2E5A3C486}" type="datetime1">
              <a:rPr lang="en-IN" smtClean="0"/>
              <a:t>06-09-2024</a:t>
            </a:fld>
            <a:endParaRPr lang="en-IN"/>
          </a:p>
        </p:txBody>
      </p:sp>
      <p:sp>
        <p:nvSpPr>
          <p:cNvPr id="5" name="Footer Placeholder 4">
            <a:extLst>
              <a:ext uri="{FF2B5EF4-FFF2-40B4-BE49-F238E27FC236}">
                <a16:creationId xmlns:a16="http://schemas.microsoft.com/office/drawing/2014/main" xmlns="" id="{68F55124-468B-E2EC-AB1F-320BE0473F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73558D1-C293-B095-0D9C-201C437DF957}"/>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2263819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B1E59B-50E1-DF8F-315F-A5CA7570CE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60BB442-16FD-59F5-68D0-5E30FD85EE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47F660D-B953-F0BC-CBAE-8FE0CF3F710E}"/>
              </a:ext>
            </a:extLst>
          </p:cNvPr>
          <p:cNvSpPr>
            <a:spLocks noGrp="1"/>
          </p:cNvSpPr>
          <p:nvPr>
            <p:ph type="dt" sz="half" idx="10"/>
          </p:nvPr>
        </p:nvSpPr>
        <p:spPr/>
        <p:txBody>
          <a:bodyPr/>
          <a:lstStyle/>
          <a:p>
            <a:fld id="{1C7ADDF0-EBB6-4383-B470-63D5F504518F}" type="datetime1">
              <a:rPr lang="en-IN" smtClean="0"/>
              <a:t>06-09-2024</a:t>
            </a:fld>
            <a:endParaRPr lang="en-IN"/>
          </a:p>
        </p:txBody>
      </p:sp>
      <p:sp>
        <p:nvSpPr>
          <p:cNvPr id="5" name="Footer Placeholder 4">
            <a:extLst>
              <a:ext uri="{FF2B5EF4-FFF2-40B4-BE49-F238E27FC236}">
                <a16:creationId xmlns:a16="http://schemas.microsoft.com/office/drawing/2014/main" xmlns="" id="{9B2129AA-8564-3227-DA62-12639FD8F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686E00D-B52E-DCAA-B56F-6FA1B000A0CC}"/>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96419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FAA363-E022-A76F-EABB-523973FAD1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61352E5-32CC-7AD8-1822-863CB920D7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A98AEC5F-7FBF-804B-BEF2-F7556435C6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D78AC2A-AB97-7375-69B6-283B0F925FA4}"/>
              </a:ext>
            </a:extLst>
          </p:cNvPr>
          <p:cNvSpPr>
            <a:spLocks noGrp="1"/>
          </p:cNvSpPr>
          <p:nvPr>
            <p:ph type="dt" sz="half" idx="10"/>
          </p:nvPr>
        </p:nvSpPr>
        <p:spPr/>
        <p:txBody>
          <a:bodyPr/>
          <a:lstStyle/>
          <a:p>
            <a:fld id="{3EE3342A-FB96-4E52-B0C9-6F38EDD19343}" type="datetime1">
              <a:rPr lang="en-IN" smtClean="0"/>
              <a:t>06-09-2024</a:t>
            </a:fld>
            <a:endParaRPr lang="en-IN"/>
          </a:p>
        </p:txBody>
      </p:sp>
      <p:sp>
        <p:nvSpPr>
          <p:cNvPr id="6" name="Footer Placeholder 5">
            <a:extLst>
              <a:ext uri="{FF2B5EF4-FFF2-40B4-BE49-F238E27FC236}">
                <a16:creationId xmlns:a16="http://schemas.microsoft.com/office/drawing/2014/main" xmlns="" id="{1CD33069-5792-5B32-D9DA-F99E1446B6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52201F8-B7AA-78A1-CB6E-9527389C688B}"/>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2400116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E5E1DE-A1B3-B94A-EA77-08764C63B9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810259C-EAA8-DB37-5811-ABF2971847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157296B-6364-A1F3-9013-EAC4686ABB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03D6CCA2-E053-BEFB-8A41-8AAFB8F410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6E3680C-9574-B94A-4981-5F94F817AD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511B9643-9B32-45D7-0736-DE4E527554CB}"/>
              </a:ext>
            </a:extLst>
          </p:cNvPr>
          <p:cNvSpPr>
            <a:spLocks noGrp="1"/>
          </p:cNvSpPr>
          <p:nvPr>
            <p:ph type="dt" sz="half" idx="10"/>
          </p:nvPr>
        </p:nvSpPr>
        <p:spPr/>
        <p:txBody>
          <a:bodyPr/>
          <a:lstStyle/>
          <a:p>
            <a:fld id="{AC34B63E-B69F-46FD-B474-D07C5E14CF74}" type="datetime1">
              <a:rPr lang="en-IN" smtClean="0"/>
              <a:t>06-09-2024</a:t>
            </a:fld>
            <a:endParaRPr lang="en-IN"/>
          </a:p>
        </p:txBody>
      </p:sp>
      <p:sp>
        <p:nvSpPr>
          <p:cNvPr id="8" name="Footer Placeholder 7">
            <a:extLst>
              <a:ext uri="{FF2B5EF4-FFF2-40B4-BE49-F238E27FC236}">
                <a16:creationId xmlns:a16="http://schemas.microsoft.com/office/drawing/2014/main" xmlns="" id="{70CBA334-8AE1-0491-B589-3395755459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C5D7395A-A834-6EDB-F642-16F8E65B8118}"/>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291719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4A7477-8AF2-FB23-49FA-7E2793FD10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0434ADE-5442-3B63-0A55-67481033A631}"/>
              </a:ext>
            </a:extLst>
          </p:cNvPr>
          <p:cNvSpPr>
            <a:spLocks noGrp="1"/>
          </p:cNvSpPr>
          <p:nvPr>
            <p:ph type="dt" sz="half" idx="10"/>
          </p:nvPr>
        </p:nvSpPr>
        <p:spPr/>
        <p:txBody>
          <a:bodyPr/>
          <a:lstStyle/>
          <a:p>
            <a:fld id="{364EA8D2-B5C0-4C14-B50D-500AB3B87D8D}" type="datetime1">
              <a:rPr lang="en-IN" smtClean="0"/>
              <a:t>06-09-2024</a:t>
            </a:fld>
            <a:endParaRPr lang="en-IN"/>
          </a:p>
        </p:txBody>
      </p:sp>
      <p:sp>
        <p:nvSpPr>
          <p:cNvPr id="4" name="Footer Placeholder 3">
            <a:extLst>
              <a:ext uri="{FF2B5EF4-FFF2-40B4-BE49-F238E27FC236}">
                <a16:creationId xmlns:a16="http://schemas.microsoft.com/office/drawing/2014/main" xmlns="" id="{0F112795-06DE-FD4B-B9DB-290EA28BCD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39E2514F-DC10-3E0C-799A-C3A850ACA273}"/>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405160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935397E-2725-81FA-BB12-04197ED1DC1B}"/>
              </a:ext>
            </a:extLst>
          </p:cNvPr>
          <p:cNvSpPr>
            <a:spLocks noGrp="1"/>
          </p:cNvSpPr>
          <p:nvPr>
            <p:ph type="dt" sz="half" idx="10"/>
          </p:nvPr>
        </p:nvSpPr>
        <p:spPr/>
        <p:txBody>
          <a:bodyPr/>
          <a:lstStyle/>
          <a:p>
            <a:fld id="{0197CF2D-3FBA-4B8B-A33A-8DCDCA9A8F2E}" type="datetime1">
              <a:rPr lang="en-IN" smtClean="0"/>
              <a:t>06-09-2024</a:t>
            </a:fld>
            <a:endParaRPr lang="en-IN"/>
          </a:p>
        </p:txBody>
      </p:sp>
      <p:sp>
        <p:nvSpPr>
          <p:cNvPr id="3" name="Footer Placeholder 2">
            <a:extLst>
              <a:ext uri="{FF2B5EF4-FFF2-40B4-BE49-F238E27FC236}">
                <a16:creationId xmlns:a16="http://schemas.microsoft.com/office/drawing/2014/main" xmlns="" id="{C8B6A352-E79C-8AFD-E375-924769E801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CFAC03D8-E9A2-19D5-1528-A0002EF5845D}"/>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58375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136526-AC71-35DA-2877-644303BC4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C36A76E-54A7-5871-96B0-4F972D6DA4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C1665A0-1C25-84ED-7FF3-4F17CAB71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A70F973-825F-BC92-5A1C-539FA6A58D56}"/>
              </a:ext>
            </a:extLst>
          </p:cNvPr>
          <p:cNvSpPr>
            <a:spLocks noGrp="1"/>
          </p:cNvSpPr>
          <p:nvPr>
            <p:ph type="dt" sz="half" idx="10"/>
          </p:nvPr>
        </p:nvSpPr>
        <p:spPr/>
        <p:txBody>
          <a:bodyPr/>
          <a:lstStyle/>
          <a:p>
            <a:fld id="{DCA7D316-C503-4039-AEDA-3FB83044809D}" type="datetime1">
              <a:rPr lang="en-IN" smtClean="0"/>
              <a:t>06-09-2024</a:t>
            </a:fld>
            <a:endParaRPr lang="en-IN"/>
          </a:p>
        </p:txBody>
      </p:sp>
      <p:sp>
        <p:nvSpPr>
          <p:cNvPr id="6" name="Footer Placeholder 5">
            <a:extLst>
              <a:ext uri="{FF2B5EF4-FFF2-40B4-BE49-F238E27FC236}">
                <a16:creationId xmlns:a16="http://schemas.microsoft.com/office/drawing/2014/main" xmlns="" id="{4F507779-8DF5-78B7-4C61-81F65767F3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F63349F-D9AF-FFDC-7623-AF41B7A82EF5}"/>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100024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ACB491-1B52-5C17-9AC2-4DD3CF8B63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06E8350-57BF-1A92-E712-5B631AF0E6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E26D51CA-F33C-9ABA-45A3-E8211076FE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8A638A9-17E7-8FE2-5F67-F947BFAB217D}"/>
              </a:ext>
            </a:extLst>
          </p:cNvPr>
          <p:cNvSpPr>
            <a:spLocks noGrp="1"/>
          </p:cNvSpPr>
          <p:nvPr>
            <p:ph type="dt" sz="half" idx="10"/>
          </p:nvPr>
        </p:nvSpPr>
        <p:spPr/>
        <p:txBody>
          <a:bodyPr/>
          <a:lstStyle/>
          <a:p>
            <a:fld id="{1411DD3E-56A8-485C-85B7-6744D2129D23}" type="datetime1">
              <a:rPr lang="en-IN" smtClean="0"/>
              <a:t>06-09-2024</a:t>
            </a:fld>
            <a:endParaRPr lang="en-IN"/>
          </a:p>
        </p:txBody>
      </p:sp>
      <p:sp>
        <p:nvSpPr>
          <p:cNvPr id="6" name="Footer Placeholder 5">
            <a:extLst>
              <a:ext uri="{FF2B5EF4-FFF2-40B4-BE49-F238E27FC236}">
                <a16:creationId xmlns:a16="http://schemas.microsoft.com/office/drawing/2014/main" xmlns="" id="{1E7226AF-C7E6-D6F2-5F03-F9D573CB74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BD57928-22FA-9768-37EA-61D73F46A826}"/>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477718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D5D381-C8D4-B2B3-B595-8C9E6C31D5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5E4F32A-121F-EBA1-15E6-D67056E49A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702999F-ABA4-056C-9A4B-C8C503B6B844}"/>
              </a:ext>
            </a:extLst>
          </p:cNvPr>
          <p:cNvSpPr>
            <a:spLocks noGrp="1"/>
          </p:cNvSpPr>
          <p:nvPr>
            <p:ph type="dt" sz="half" idx="10"/>
          </p:nvPr>
        </p:nvSpPr>
        <p:spPr/>
        <p:txBody>
          <a:bodyPr/>
          <a:lstStyle/>
          <a:p>
            <a:fld id="{4F9CBC09-C3DB-4ECC-955F-63A7427BA980}" type="datetime1">
              <a:rPr lang="en-IN" smtClean="0"/>
              <a:t>06-09-2024</a:t>
            </a:fld>
            <a:endParaRPr lang="en-IN"/>
          </a:p>
        </p:txBody>
      </p:sp>
      <p:sp>
        <p:nvSpPr>
          <p:cNvPr id="5" name="Footer Placeholder 4">
            <a:extLst>
              <a:ext uri="{FF2B5EF4-FFF2-40B4-BE49-F238E27FC236}">
                <a16:creationId xmlns:a16="http://schemas.microsoft.com/office/drawing/2014/main" xmlns="" id="{C92025C6-6B27-EF3D-7F21-58F96B19DE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322BCAC-E5A1-0374-304D-BE30988F75BF}"/>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390205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65D29C2-95D3-84CC-7B1A-72BA1C95A0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1DA7BAD-948C-ED6D-024F-04CADB6ACF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982F5E3-C861-054A-DCBF-8D1437F0A5F6}"/>
              </a:ext>
            </a:extLst>
          </p:cNvPr>
          <p:cNvSpPr>
            <a:spLocks noGrp="1"/>
          </p:cNvSpPr>
          <p:nvPr>
            <p:ph type="dt" sz="half" idx="10"/>
          </p:nvPr>
        </p:nvSpPr>
        <p:spPr/>
        <p:txBody>
          <a:bodyPr/>
          <a:lstStyle/>
          <a:p>
            <a:fld id="{7F4E4EC2-F8D3-4FA1-B8CB-50BEA0904752}" type="datetime1">
              <a:rPr lang="en-IN" smtClean="0"/>
              <a:t>06-09-2024</a:t>
            </a:fld>
            <a:endParaRPr lang="en-IN"/>
          </a:p>
        </p:txBody>
      </p:sp>
      <p:sp>
        <p:nvSpPr>
          <p:cNvPr id="5" name="Footer Placeholder 4">
            <a:extLst>
              <a:ext uri="{FF2B5EF4-FFF2-40B4-BE49-F238E27FC236}">
                <a16:creationId xmlns:a16="http://schemas.microsoft.com/office/drawing/2014/main" xmlns="" id="{29FFE2CE-C067-3121-5738-F393D0CC49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3F24F54-CEF2-173B-37A4-686104FD7F4F}"/>
              </a:ext>
            </a:extLst>
          </p:cNvPr>
          <p:cNvSpPr>
            <a:spLocks noGrp="1"/>
          </p:cNvSpPr>
          <p:nvPr>
            <p:ph type="sldNum" sz="quarter" idx="12"/>
          </p:nvPr>
        </p:nvSpPr>
        <p:spPr/>
        <p:txBody>
          <a:bodyPr/>
          <a:lstStyle/>
          <a:p>
            <a:fld id="{E4371DF9-27D1-4286-99A9-B07A2966053B}" type="slidenum">
              <a:rPr lang="en-IN" smtClean="0"/>
              <a:t>‹#›</a:t>
            </a:fld>
            <a:endParaRPr lang="en-IN"/>
          </a:p>
        </p:txBody>
      </p:sp>
    </p:spTree>
    <p:extLst>
      <p:ext uri="{BB962C8B-B14F-4D97-AF65-F5344CB8AC3E}">
        <p14:creationId xmlns:p14="http://schemas.microsoft.com/office/powerpoint/2010/main" val="4240235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6D4275F-87A7-3788-903B-D60B624A60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433795B-B250-259F-8B23-79DF463B95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C8A88EF-89FB-20D8-5FDB-56053DED8F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BBA3FD-5E4D-435C-9EE5-DFAB8C57DB21}" type="datetime1">
              <a:rPr lang="en-IN" smtClean="0"/>
              <a:t>06-09-2024</a:t>
            </a:fld>
            <a:endParaRPr lang="en-IN"/>
          </a:p>
        </p:txBody>
      </p:sp>
      <p:sp>
        <p:nvSpPr>
          <p:cNvPr id="5" name="Footer Placeholder 4">
            <a:extLst>
              <a:ext uri="{FF2B5EF4-FFF2-40B4-BE49-F238E27FC236}">
                <a16:creationId xmlns:a16="http://schemas.microsoft.com/office/drawing/2014/main" xmlns="" id="{5ED74005-655D-2226-3FA6-5F0A3B532A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624D97A2-DD07-49CA-D7A6-AFB39E5C08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371DF9-27D1-4286-99A9-B07A2966053B}" type="slidenum">
              <a:rPr lang="en-IN" smtClean="0"/>
              <a:t>‹#›</a:t>
            </a:fld>
            <a:endParaRPr lang="en-IN"/>
          </a:p>
        </p:txBody>
      </p:sp>
    </p:spTree>
    <p:extLst>
      <p:ext uri="{BB962C8B-B14F-4D97-AF65-F5344CB8AC3E}">
        <p14:creationId xmlns:p14="http://schemas.microsoft.com/office/powerpoint/2010/main" val="922332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svecw logo">
            <a:extLst>
              <a:ext uri="{FF2B5EF4-FFF2-40B4-BE49-F238E27FC236}">
                <a16:creationId xmlns:a16="http://schemas.microsoft.com/office/drawing/2014/main" xmlns="" id="{87ED0596-23F0-7631-05A1-7C9FAFDB1405}"/>
              </a:ext>
            </a:extLst>
          </p:cNvPr>
          <p:cNvPicPr>
            <a:picLocks noChangeAspect="1"/>
          </p:cNvPicPr>
          <p:nvPr/>
        </p:nvPicPr>
        <p:blipFill>
          <a:blip r:embed="rId2" cstate="print"/>
          <a:srcRect/>
          <a:stretch>
            <a:fillRect/>
          </a:stretch>
        </p:blipFill>
        <p:spPr bwMode="auto">
          <a:xfrm>
            <a:off x="675862" y="290874"/>
            <a:ext cx="1302024" cy="1461074"/>
          </a:xfrm>
          <a:prstGeom prst="rect">
            <a:avLst/>
          </a:prstGeom>
          <a:noFill/>
          <a:ln w="9525">
            <a:noFill/>
            <a:miter lim="800000"/>
            <a:headEnd/>
            <a:tailEnd/>
          </a:ln>
        </p:spPr>
      </p:pic>
      <p:sp>
        <p:nvSpPr>
          <p:cNvPr id="6" name="TextBox 5">
            <a:extLst>
              <a:ext uri="{FF2B5EF4-FFF2-40B4-BE49-F238E27FC236}">
                <a16:creationId xmlns:a16="http://schemas.microsoft.com/office/drawing/2014/main" xmlns="" id="{2AD3E9BE-B421-E639-C333-F412E6ACC127}"/>
              </a:ext>
            </a:extLst>
          </p:cNvPr>
          <p:cNvSpPr txBox="1"/>
          <p:nvPr/>
        </p:nvSpPr>
        <p:spPr>
          <a:xfrm>
            <a:off x="1658178" y="5249876"/>
            <a:ext cx="8875643" cy="1015663"/>
          </a:xfrm>
          <a:prstGeom prst="rect">
            <a:avLst/>
          </a:prstGeom>
          <a:noFill/>
        </p:spPr>
        <p:txBody>
          <a:bodyPr wrap="square">
            <a:spAutoFit/>
          </a:bodyPr>
          <a:lstStyle/>
          <a:p>
            <a:pPr algn="ctr"/>
            <a:r>
              <a:rPr lang="en-US" sz="2000" dirty="0">
                <a:solidFill>
                  <a:srgbClr val="002060"/>
                </a:solidFill>
                <a:latin typeface="Times New Roman" panose="02020603050405020304" pitchFamily="18" charset="0"/>
                <a:ea typeface="Calibri" panose="020F0502020204030204" pitchFamily="34" charset="0"/>
              </a:rPr>
              <a:t>Department of Electrical and Electronics Engineering</a:t>
            </a:r>
          </a:p>
          <a:p>
            <a:pPr algn="ctr"/>
            <a:r>
              <a:rPr lang="en-IN" sz="2000" dirty="0">
                <a:solidFill>
                  <a:srgbClr val="002060"/>
                </a:solidFill>
                <a:effectLst/>
                <a:latin typeface="Times New Roman" panose="02020603050405020304" pitchFamily="18" charset="0"/>
                <a:ea typeface="Calibri" panose="020F0502020204030204" pitchFamily="34" charset="0"/>
              </a:rPr>
              <a:t>Shri Vishnu Engineering College for Women (A) </a:t>
            </a:r>
          </a:p>
          <a:p>
            <a:pPr algn="ctr"/>
            <a:r>
              <a:rPr lang="en-IN" sz="2000" dirty="0">
                <a:solidFill>
                  <a:srgbClr val="002060"/>
                </a:solidFill>
                <a:latin typeface="Times New Roman" panose="02020603050405020304" pitchFamily="18" charset="0"/>
                <a:ea typeface="Calibri" panose="020F0502020204030204" pitchFamily="34" charset="0"/>
              </a:rPr>
              <a:t>Bhimavaram, Andhra Pradesh - 534201 </a:t>
            </a:r>
          </a:p>
        </p:txBody>
      </p:sp>
      <p:sp>
        <p:nvSpPr>
          <p:cNvPr id="7" name="TextBox 6">
            <a:extLst>
              <a:ext uri="{FF2B5EF4-FFF2-40B4-BE49-F238E27FC236}">
                <a16:creationId xmlns:a16="http://schemas.microsoft.com/office/drawing/2014/main" xmlns="" id="{A661B46B-7977-7F32-45C1-EEEDCBFA7121}"/>
              </a:ext>
            </a:extLst>
          </p:cNvPr>
          <p:cNvSpPr txBox="1"/>
          <p:nvPr/>
        </p:nvSpPr>
        <p:spPr>
          <a:xfrm>
            <a:off x="1319916" y="975451"/>
            <a:ext cx="9384527" cy="461665"/>
          </a:xfrm>
          <a:prstGeom prst="rect">
            <a:avLst/>
          </a:prstGeom>
          <a:noFill/>
        </p:spPr>
        <p:txBody>
          <a:bodyPr wrap="square">
            <a:spAutoFit/>
          </a:bodyPr>
          <a:lstStyle/>
          <a:p>
            <a:pPr algn="ctr"/>
            <a:r>
              <a:rPr lang="en-IN" sz="2400" b="1" dirty="0">
                <a:solidFill>
                  <a:srgbClr val="002060"/>
                </a:solidFill>
                <a:latin typeface="Times New Roman" panose="02020603050405020304" pitchFamily="18" charset="0"/>
                <a:ea typeface="Calibri" panose="020F0502020204030204" pitchFamily="34" charset="0"/>
              </a:rPr>
              <a:t>IoT BASED ICU PATIENT MONITORING SYSTEM</a:t>
            </a:r>
            <a:endParaRPr lang="en-IN" sz="2400" dirty="0"/>
          </a:p>
        </p:txBody>
      </p:sp>
      <p:sp>
        <p:nvSpPr>
          <p:cNvPr id="8" name="TextBox 7">
            <a:extLst>
              <a:ext uri="{FF2B5EF4-FFF2-40B4-BE49-F238E27FC236}">
                <a16:creationId xmlns:a16="http://schemas.microsoft.com/office/drawing/2014/main" xmlns="" id="{7F975E06-E70B-29B9-516B-8F57F7CF684A}"/>
              </a:ext>
            </a:extLst>
          </p:cNvPr>
          <p:cNvSpPr txBox="1"/>
          <p:nvPr/>
        </p:nvSpPr>
        <p:spPr>
          <a:xfrm>
            <a:off x="4828636" y="1596266"/>
            <a:ext cx="1957587" cy="400110"/>
          </a:xfrm>
          <a:prstGeom prst="rect">
            <a:avLst/>
          </a:prstGeom>
          <a:noFill/>
        </p:spPr>
        <p:txBody>
          <a:bodyPr wrap="none" rtlCol="0">
            <a:spAutoFit/>
          </a:bodyPr>
          <a:lstStyle/>
          <a:p>
            <a:r>
              <a:rPr lang="en-US" sz="2000" b="1" dirty="0">
                <a:solidFill>
                  <a:srgbClr val="0070C0"/>
                </a:solidFill>
                <a:latin typeface="Times New Roman" panose="02020603050405020304" pitchFamily="18" charset="0"/>
                <a:cs typeface="Times New Roman" panose="02020603050405020304" pitchFamily="18" charset="0"/>
              </a:rPr>
              <a:t>SOC </a:t>
            </a:r>
            <a:r>
              <a:rPr lang="en-US" sz="2000" b="1" dirty="0" smtClean="0">
                <a:solidFill>
                  <a:srgbClr val="0070C0"/>
                </a:solidFill>
                <a:latin typeface="Times New Roman" panose="02020603050405020304" pitchFamily="18" charset="0"/>
                <a:cs typeface="Times New Roman" panose="02020603050405020304" pitchFamily="18" charset="0"/>
              </a:rPr>
              <a:t>Review-III</a:t>
            </a:r>
            <a:endParaRPr lang="en-IN" sz="2000" b="1" dirty="0">
              <a:solidFill>
                <a:srgbClr val="0070C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FD6BF8C8-B22A-0495-73BB-29A565B1E752}"/>
              </a:ext>
            </a:extLst>
          </p:cNvPr>
          <p:cNvSpPr txBox="1"/>
          <p:nvPr/>
        </p:nvSpPr>
        <p:spPr>
          <a:xfrm>
            <a:off x="546461" y="2930521"/>
            <a:ext cx="4502588" cy="2074927"/>
          </a:xfrm>
          <a:prstGeom prst="rect">
            <a:avLst/>
          </a:prstGeom>
          <a:noFill/>
        </p:spPr>
        <p:txBody>
          <a:bodyPr wrap="square" rtlCol="0">
            <a:spAutoFit/>
          </a:bodyPr>
          <a:lstStyle/>
          <a:p>
            <a:pPr algn="just">
              <a:spcBef>
                <a:spcPts val="463"/>
              </a:spcBef>
              <a:defRPr/>
            </a:pPr>
            <a:r>
              <a:rPr lang="en-US" b="1" dirty="0" smtClean="0">
                <a:solidFill>
                  <a:srgbClr val="002060"/>
                </a:solidFill>
                <a:latin typeface="Times New Roman" panose="02020603050405020304" pitchFamily="18" charset="0"/>
                <a:cs typeface="Times New Roman" panose="02020603050405020304" pitchFamily="18" charset="0"/>
              </a:rPr>
              <a:t>Presented By</a:t>
            </a:r>
            <a:endParaRPr lang="en-US" dirty="0">
              <a:solidFill>
                <a:srgbClr val="002060"/>
              </a:solidFill>
              <a:latin typeface="Times New Roman" panose="02020603050405020304" pitchFamily="18" charset="0"/>
              <a:cs typeface="Times New Roman" panose="02020603050405020304" pitchFamily="18" charset="0"/>
            </a:endParaRPr>
          </a:p>
          <a:p>
            <a:pPr algn="just">
              <a:spcBef>
                <a:spcPts val="463"/>
              </a:spcBef>
              <a:defRPr/>
            </a:pPr>
            <a:r>
              <a:rPr lang="en-US" dirty="0" smtClean="0">
                <a:solidFill>
                  <a:srgbClr val="002060"/>
                </a:solidFill>
                <a:latin typeface="Times New Roman" panose="02020603050405020304" pitchFamily="18" charset="0"/>
                <a:cs typeface="Times New Roman" panose="02020603050405020304" pitchFamily="18" charset="0"/>
              </a:rPr>
              <a:t>A. Mokshagna-22B01A0201</a:t>
            </a:r>
          </a:p>
          <a:p>
            <a:pPr algn="just">
              <a:spcBef>
                <a:spcPts val="463"/>
              </a:spcBef>
              <a:defRPr/>
            </a:pPr>
            <a:r>
              <a:rPr lang="en-US" dirty="0" smtClean="0">
                <a:solidFill>
                  <a:srgbClr val="002060"/>
                </a:solidFill>
                <a:latin typeface="Times New Roman" panose="02020603050405020304" pitchFamily="18" charset="0"/>
                <a:cs typeface="Times New Roman" panose="02020603050405020304" pitchFamily="18" charset="0"/>
              </a:rPr>
              <a:t>B. </a:t>
            </a:r>
            <a:r>
              <a:rPr lang="en-US" dirty="0">
                <a:solidFill>
                  <a:srgbClr val="002060"/>
                </a:solidFill>
                <a:latin typeface="Times New Roman" panose="02020603050405020304" pitchFamily="18" charset="0"/>
                <a:cs typeface="Times New Roman" panose="02020603050405020304" pitchFamily="18" charset="0"/>
              </a:rPr>
              <a:t>Bhavya Sai Chandrika-22B01A0208</a:t>
            </a:r>
          </a:p>
          <a:p>
            <a:pPr algn="just">
              <a:spcBef>
                <a:spcPts val="463"/>
              </a:spcBef>
              <a:defRPr/>
            </a:pPr>
            <a:r>
              <a:rPr lang="en-US" dirty="0">
                <a:solidFill>
                  <a:srgbClr val="002060"/>
                </a:solidFill>
                <a:latin typeface="Times New Roman" panose="02020603050405020304" pitchFamily="18" charset="0"/>
                <a:cs typeface="Times New Roman" panose="02020603050405020304" pitchFamily="18" charset="0"/>
              </a:rPr>
              <a:t>L. Keerthi Sri-22B01A0231</a:t>
            </a:r>
          </a:p>
          <a:p>
            <a:pPr algn="just">
              <a:spcBef>
                <a:spcPts val="463"/>
              </a:spcBef>
              <a:defRPr/>
            </a:pPr>
            <a:r>
              <a:rPr lang="en-US" dirty="0">
                <a:solidFill>
                  <a:srgbClr val="002060"/>
                </a:solidFill>
                <a:latin typeface="Times New Roman" panose="02020603050405020304" pitchFamily="18" charset="0"/>
                <a:cs typeface="Times New Roman" panose="02020603050405020304" pitchFamily="18" charset="0"/>
              </a:rPr>
              <a:t>M. Keerthana-22B01A0235</a:t>
            </a:r>
          </a:p>
          <a:p>
            <a:pPr algn="just">
              <a:spcBef>
                <a:spcPts val="463"/>
              </a:spcBef>
              <a:defRPr/>
            </a:pP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xmlns="" id="{4A729E94-8E1A-EFAB-CB12-C417273D0BA1}"/>
              </a:ext>
            </a:extLst>
          </p:cNvPr>
          <p:cNvSpPr txBox="1"/>
          <p:nvPr/>
        </p:nvSpPr>
        <p:spPr>
          <a:xfrm>
            <a:off x="7462989" y="2785188"/>
            <a:ext cx="4502588" cy="1392689"/>
          </a:xfrm>
          <a:prstGeom prst="rect">
            <a:avLst/>
          </a:prstGeom>
          <a:noFill/>
        </p:spPr>
        <p:txBody>
          <a:bodyPr wrap="square" rtlCol="0">
            <a:spAutoFit/>
          </a:bodyPr>
          <a:lstStyle/>
          <a:p>
            <a:pPr algn="ctr">
              <a:spcBef>
                <a:spcPts val="463"/>
              </a:spcBef>
              <a:defRPr/>
            </a:pPr>
            <a:r>
              <a:rPr lang="en-US" b="1" dirty="0">
                <a:solidFill>
                  <a:srgbClr val="002060"/>
                </a:solidFill>
                <a:latin typeface="Times New Roman" panose="02020603050405020304" pitchFamily="18" charset="0"/>
                <a:cs typeface="Times New Roman" panose="02020603050405020304" pitchFamily="18" charset="0"/>
              </a:rPr>
              <a:t>Supervisor</a:t>
            </a:r>
          </a:p>
          <a:p>
            <a:pPr algn="ctr">
              <a:spcBef>
                <a:spcPts val="463"/>
              </a:spcBef>
              <a:defRPr/>
            </a:pPr>
            <a:r>
              <a:rPr lang="en-US" dirty="0" smtClean="0">
                <a:solidFill>
                  <a:srgbClr val="002060"/>
                </a:solidFill>
                <a:latin typeface="Times New Roman" panose="02020603050405020304" pitchFamily="18" charset="0"/>
                <a:cs typeface="Times New Roman" panose="02020603050405020304" pitchFamily="18" charset="0"/>
              </a:rPr>
              <a:t>Mr .K. P. Swaroop</a:t>
            </a:r>
          </a:p>
          <a:p>
            <a:pPr algn="ctr">
              <a:spcBef>
                <a:spcPts val="463"/>
              </a:spcBef>
              <a:defRPr/>
            </a:pPr>
            <a:r>
              <a:rPr lang="en-US" dirty="0" smtClean="0">
                <a:solidFill>
                  <a:srgbClr val="002060"/>
                </a:solidFill>
                <a:latin typeface="Times New Roman" panose="02020603050405020304" pitchFamily="18" charset="0"/>
                <a:cs typeface="Times New Roman" panose="02020603050405020304" pitchFamily="18" charset="0"/>
              </a:rPr>
              <a:t>Assistant Professor , EEE</a:t>
            </a:r>
            <a:endParaRPr lang="en-US" dirty="0">
              <a:solidFill>
                <a:srgbClr val="002060"/>
              </a:solidFill>
              <a:latin typeface="Times New Roman" panose="02020603050405020304" pitchFamily="18" charset="0"/>
              <a:cs typeface="Times New Roman" panose="02020603050405020304" pitchFamily="18" charset="0"/>
            </a:endParaRPr>
          </a:p>
          <a:p>
            <a:pPr algn="ctr">
              <a:spcBef>
                <a:spcPts val="463"/>
              </a:spcBef>
              <a:defRPr/>
            </a:pP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Flowchart: Alternate Process 2">
            <a:extLst>
              <a:ext uri="{FF2B5EF4-FFF2-40B4-BE49-F238E27FC236}">
                <a16:creationId xmlns:a16="http://schemas.microsoft.com/office/drawing/2014/main" xmlns="" id="{1C015E95-BA33-BB42-8965-27A893BC858F}"/>
              </a:ext>
            </a:extLst>
          </p:cNvPr>
          <p:cNvSpPr/>
          <p:nvPr/>
        </p:nvSpPr>
        <p:spPr>
          <a:xfrm>
            <a:off x="9527224" y="299738"/>
            <a:ext cx="2354438" cy="613954"/>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latin typeface="Times New Roman" pitchFamily="18" charset="0"/>
                <a:cs typeface="Times New Roman" pitchFamily="18" charset="0"/>
              </a:rPr>
              <a:t> </a:t>
            </a:r>
            <a:r>
              <a:rPr lang="en-US" sz="2400" b="1" dirty="0">
                <a:latin typeface="Times New Roman" pitchFamily="18" charset="0"/>
                <a:cs typeface="Times New Roman" pitchFamily="18" charset="0"/>
              </a:rPr>
              <a:t>Hardware</a:t>
            </a:r>
          </a:p>
        </p:txBody>
      </p:sp>
      <p:sp>
        <p:nvSpPr>
          <p:cNvPr id="4" name="TextBox 3">
            <a:extLst>
              <a:ext uri="{FF2B5EF4-FFF2-40B4-BE49-F238E27FC236}">
                <a16:creationId xmlns:a16="http://schemas.microsoft.com/office/drawing/2014/main" xmlns="" id="{4C75D2C1-808E-1B89-4489-334B3A88F446}"/>
              </a:ext>
            </a:extLst>
          </p:cNvPr>
          <p:cNvSpPr txBox="1"/>
          <p:nvPr/>
        </p:nvSpPr>
        <p:spPr>
          <a:xfrm>
            <a:off x="5049049" y="2121693"/>
            <a:ext cx="1417376" cy="400110"/>
          </a:xfrm>
          <a:prstGeom prst="rect">
            <a:avLst/>
          </a:prstGeom>
          <a:noFill/>
        </p:spPr>
        <p:txBody>
          <a:bodyPr wrap="non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Batch </a:t>
            </a:r>
            <a:r>
              <a:rPr lang="en-US" sz="2000" b="1" dirty="0" smtClean="0">
                <a:solidFill>
                  <a:srgbClr val="002060"/>
                </a:solidFill>
                <a:latin typeface="Times New Roman" panose="02020603050405020304" pitchFamily="18" charset="0"/>
                <a:cs typeface="Times New Roman" panose="02020603050405020304" pitchFamily="18" charset="0"/>
              </a:rPr>
              <a:t>No-3</a:t>
            </a:r>
            <a:endParaRPr lang="en-IN" sz="2000" b="1" dirty="0">
              <a:solidFill>
                <a:srgbClr val="002060"/>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xmlns="" id="{EB040E33-AB11-48CD-B7ED-F2393A9442CE}"/>
              </a:ext>
            </a:extLst>
          </p:cNvPr>
          <p:cNvSpPr>
            <a:spLocks noGrp="1"/>
          </p:cNvSpPr>
          <p:nvPr>
            <p:ph type="dt" sz="half" idx="10"/>
          </p:nvPr>
        </p:nvSpPr>
        <p:spPr/>
        <p:txBody>
          <a:bodyPr/>
          <a:lstStyle/>
          <a:p>
            <a:fld id="{34E31C2B-5686-46CB-8621-B342F5A19D60}" type="datetime1">
              <a:rPr lang="en-IN" smtClean="0"/>
              <a:t>06-09-2024</a:t>
            </a:fld>
            <a:endParaRPr lang="en-IN"/>
          </a:p>
        </p:txBody>
      </p:sp>
      <p:sp>
        <p:nvSpPr>
          <p:cNvPr id="11" name="Slide Number Placeholder 10">
            <a:extLst>
              <a:ext uri="{FF2B5EF4-FFF2-40B4-BE49-F238E27FC236}">
                <a16:creationId xmlns:a16="http://schemas.microsoft.com/office/drawing/2014/main" xmlns="" id="{99DAF519-CF81-4BD5-87E6-9F781F1E0D4D}"/>
              </a:ext>
            </a:extLst>
          </p:cNvPr>
          <p:cNvSpPr>
            <a:spLocks noGrp="1"/>
          </p:cNvSpPr>
          <p:nvPr>
            <p:ph type="sldNum" sz="quarter" idx="12"/>
          </p:nvPr>
        </p:nvSpPr>
        <p:spPr/>
        <p:txBody>
          <a:bodyPr/>
          <a:lstStyle/>
          <a:p>
            <a:fld id="{E4371DF9-27D1-4286-99A9-B07A2966053B}" type="slidenum">
              <a:rPr lang="en-IN" smtClean="0"/>
              <a:t>1</a:t>
            </a:fld>
            <a:endParaRPr lang="en-IN"/>
          </a:p>
        </p:txBody>
      </p:sp>
    </p:spTree>
    <p:extLst>
      <p:ext uri="{BB962C8B-B14F-4D97-AF65-F5344CB8AC3E}">
        <p14:creationId xmlns:p14="http://schemas.microsoft.com/office/powerpoint/2010/main" val="1330243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469997F-B52F-2815-3535-D7C857E32A34}"/>
              </a:ext>
            </a:extLst>
          </p:cNvPr>
          <p:cNvSpPr txBox="1"/>
          <p:nvPr/>
        </p:nvSpPr>
        <p:spPr>
          <a:xfrm>
            <a:off x="593863" y="699916"/>
            <a:ext cx="2169215"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CONTENTS</a:t>
            </a:r>
            <a:endParaRPr lang="en-IN" sz="2400" dirty="0"/>
          </a:p>
        </p:txBody>
      </p:sp>
      <p:sp>
        <p:nvSpPr>
          <p:cNvPr id="4" name="Content Placeholder 5">
            <a:extLst>
              <a:ext uri="{FF2B5EF4-FFF2-40B4-BE49-F238E27FC236}">
                <a16:creationId xmlns:a16="http://schemas.microsoft.com/office/drawing/2014/main" xmlns="" id="{4A63A69F-DAEA-E44A-0685-0122D30D87D2}"/>
              </a:ext>
            </a:extLst>
          </p:cNvPr>
          <p:cNvSpPr txBox="1">
            <a:spLocks/>
          </p:cNvSpPr>
          <p:nvPr/>
        </p:nvSpPr>
        <p:spPr>
          <a:xfrm>
            <a:off x="838200" y="1511860"/>
            <a:ext cx="7480852" cy="46672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latin typeface="Times New Roman" panose="02020603050405020304" pitchFamily="18" charset="0"/>
                <a:cs typeface="Times New Roman" panose="02020603050405020304" pitchFamily="18" charset="0"/>
              </a:rPr>
              <a:t>Introduction </a:t>
            </a:r>
          </a:p>
          <a:p>
            <a:pPr>
              <a:lnSpc>
                <a:spcPct val="100000"/>
              </a:lnSpc>
            </a:pPr>
            <a:r>
              <a:rPr lang="en-US" dirty="0">
                <a:latin typeface="Times New Roman" panose="02020603050405020304" pitchFamily="18" charset="0"/>
                <a:cs typeface="Times New Roman" panose="02020603050405020304" pitchFamily="18" charset="0"/>
              </a:rPr>
              <a:t>Literature Review </a:t>
            </a:r>
          </a:p>
          <a:p>
            <a:pPr>
              <a:lnSpc>
                <a:spcPct val="100000"/>
              </a:lnSpc>
            </a:pPr>
            <a:r>
              <a:rPr lang="en-US" dirty="0">
                <a:latin typeface="Times New Roman" panose="02020603050405020304" pitchFamily="18" charset="0"/>
                <a:cs typeface="Times New Roman" panose="02020603050405020304" pitchFamily="18" charset="0"/>
              </a:rPr>
              <a:t>Problem Statement </a:t>
            </a:r>
          </a:p>
          <a:p>
            <a:pPr>
              <a:lnSpc>
                <a:spcPct val="100000"/>
              </a:lnSpc>
            </a:pPr>
            <a:r>
              <a:rPr lang="en-US" dirty="0">
                <a:latin typeface="Times New Roman" panose="02020603050405020304" pitchFamily="18" charset="0"/>
                <a:cs typeface="Times New Roman" panose="02020603050405020304" pitchFamily="18" charset="0"/>
              </a:rPr>
              <a:t>Objectives</a:t>
            </a:r>
          </a:p>
          <a:p>
            <a:pPr>
              <a:lnSpc>
                <a:spcPct val="100000"/>
              </a:lnSpc>
            </a:pPr>
            <a:r>
              <a:rPr lang="en-US" dirty="0">
                <a:latin typeface="Times New Roman" panose="02020603050405020304" pitchFamily="18" charset="0"/>
                <a:cs typeface="Times New Roman" panose="02020603050405020304" pitchFamily="18" charset="0"/>
              </a:rPr>
              <a:t>Block Diagram </a:t>
            </a:r>
          </a:p>
          <a:p>
            <a:pPr>
              <a:lnSpc>
                <a:spcPct val="100000"/>
              </a:lnSpc>
            </a:pPr>
            <a:r>
              <a:rPr lang="en-US" dirty="0">
                <a:latin typeface="Times New Roman" panose="02020603050405020304" pitchFamily="18" charset="0"/>
                <a:cs typeface="Times New Roman" panose="02020603050405020304" pitchFamily="18" charset="0"/>
              </a:rPr>
              <a:t>Components &amp; Specifications </a:t>
            </a:r>
          </a:p>
          <a:p>
            <a:pPr>
              <a:lnSpc>
                <a:spcPct val="100000"/>
              </a:lnSpc>
            </a:pPr>
            <a:r>
              <a:rPr lang="en-US" dirty="0">
                <a:latin typeface="Times New Roman" panose="02020603050405020304" pitchFamily="18" charset="0"/>
                <a:cs typeface="Times New Roman" panose="02020603050405020304" pitchFamily="18" charset="0"/>
              </a:rPr>
              <a:t>Gantt Chart</a:t>
            </a:r>
          </a:p>
          <a:p>
            <a:pPr>
              <a:lnSpc>
                <a:spcPct val="100000"/>
              </a:lnSpc>
            </a:pPr>
            <a:r>
              <a:rPr lang="en-US" dirty="0">
                <a:latin typeface="Times New Roman" panose="02020603050405020304" pitchFamily="18" charset="0"/>
                <a:cs typeface="Times New Roman" panose="02020603050405020304" pitchFamily="18" charset="0"/>
              </a:rPr>
              <a:t>References </a:t>
            </a:r>
          </a:p>
          <a:p>
            <a:pPr>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C265305A-A826-43B6-B3F2-D5562F07159D}"/>
              </a:ext>
            </a:extLst>
          </p:cNvPr>
          <p:cNvSpPr>
            <a:spLocks noGrp="1"/>
          </p:cNvSpPr>
          <p:nvPr>
            <p:ph type="dt" sz="half" idx="10"/>
          </p:nvPr>
        </p:nvSpPr>
        <p:spPr/>
        <p:txBody>
          <a:bodyPr/>
          <a:lstStyle/>
          <a:p>
            <a:fld id="{C9BF0260-FF3F-4E07-95C2-3A5BBB0AB350}" type="datetime1">
              <a:rPr lang="en-IN" smtClean="0"/>
              <a:t>06-09-2024</a:t>
            </a:fld>
            <a:endParaRPr lang="en-IN"/>
          </a:p>
        </p:txBody>
      </p:sp>
      <p:sp>
        <p:nvSpPr>
          <p:cNvPr id="5" name="Slide Number Placeholder 4">
            <a:extLst>
              <a:ext uri="{FF2B5EF4-FFF2-40B4-BE49-F238E27FC236}">
                <a16:creationId xmlns:a16="http://schemas.microsoft.com/office/drawing/2014/main" xmlns="" id="{DCB5626B-8466-4B70-9515-39C85E5D753B}"/>
              </a:ext>
            </a:extLst>
          </p:cNvPr>
          <p:cNvSpPr>
            <a:spLocks noGrp="1"/>
          </p:cNvSpPr>
          <p:nvPr>
            <p:ph type="sldNum" sz="quarter" idx="12"/>
          </p:nvPr>
        </p:nvSpPr>
        <p:spPr/>
        <p:txBody>
          <a:bodyPr/>
          <a:lstStyle/>
          <a:p>
            <a:fld id="{E4371DF9-27D1-4286-99A9-B07A2966053B}" type="slidenum">
              <a:rPr lang="en-IN" smtClean="0"/>
              <a:t>2</a:t>
            </a:fld>
            <a:endParaRPr lang="en-IN"/>
          </a:p>
        </p:txBody>
      </p:sp>
    </p:spTree>
    <p:extLst>
      <p:ext uri="{BB962C8B-B14F-4D97-AF65-F5344CB8AC3E}">
        <p14:creationId xmlns:p14="http://schemas.microsoft.com/office/powerpoint/2010/main" val="22943081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B8B251-63DF-5D2A-E3C5-D846E687028C}"/>
              </a:ext>
            </a:extLst>
          </p:cNvPr>
          <p:cNvSpPr>
            <a:spLocks noGrp="1"/>
          </p:cNvSpPr>
          <p:nvPr>
            <p:ph type="title"/>
          </p:nvPr>
        </p:nvSpPr>
        <p:spPr>
          <a:xfrm>
            <a:off x="838200" y="288236"/>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Introduction:</a:t>
            </a:r>
            <a:r>
              <a:rPr lang="en-US" sz="4400" dirty="0">
                <a:solidFill>
                  <a:srgbClr val="002060"/>
                </a:solidFill>
                <a:latin typeface="Times New Roman" panose="02020603050405020304" pitchFamily="18" charset="0"/>
                <a:cs typeface="Times New Roman" panose="02020603050405020304" pitchFamily="18" charset="0"/>
              </a:rPr>
              <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5019FD66-5A85-8337-9513-8B3A3EF03598}"/>
              </a:ext>
            </a:extLst>
          </p:cNvPr>
          <p:cNvSpPr>
            <a:spLocks noGrp="1"/>
          </p:cNvSpPr>
          <p:nvPr>
            <p:ph idx="1"/>
          </p:nvPr>
        </p:nvSpPr>
        <p:spPr>
          <a:xfrm>
            <a:off x="838200" y="1149764"/>
            <a:ext cx="10515600" cy="4972740"/>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Intensive Care Unit or ICU is where the patients who are critically ill are admitted for treatment. For such critical conditions the Doctors need to have an all-time update patient’s health related parameters like their blood pressure, heart pulse and temperature. For this type of situations this </a:t>
            </a:r>
            <a:r>
              <a:rPr lang="en-US" sz="2400" dirty="0" smtClean="0">
                <a:latin typeface="Times New Roman" panose="02020603050405020304" pitchFamily="18" charset="0"/>
                <a:cs typeface="Times New Roman" panose="02020603050405020304" pitchFamily="18" charset="0"/>
              </a:rPr>
              <a:t>IoT </a:t>
            </a:r>
            <a:r>
              <a:rPr lang="en-US" sz="2400" dirty="0">
                <a:latin typeface="Times New Roman" panose="02020603050405020304" pitchFamily="18" charset="0"/>
                <a:cs typeface="Times New Roman" panose="02020603050405020304" pitchFamily="18" charset="0"/>
              </a:rPr>
              <a:t>based system can bring about an automation that can keep the Doctors updated all time over internet.</a:t>
            </a: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IoT </a:t>
            </a:r>
            <a:r>
              <a:rPr lang="en-US" sz="2400" dirty="0">
                <a:latin typeface="Times New Roman" panose="02020603050405020304" pitchFamily="18" charset="0"/>
                <a:cs typeface="Times New Roman" panose="02020603050405020304" pitchFamily="18" charset="0"/>
              </a:rPr>
              <a:t>Based ICU Patient Monitoring System which collects patient’s information with the help of few sensors. There is a Blood pressure and heart beat monitor module electrically connected to the system. On the press of button, the sensor senses the blood pressure in systolic and diastolic along with the heart beat and sends it to the central controller. The Temperature sensor senses the temperature of its ambience, so when this sensor is in close proximity of the user it reports the users’ body temperature. In this way </a:t>
            </a:r>
            <a:r>
              <a:rPr lang="en-US" sz="2400" dirty="0" smtClean="0">
                <a:latin typeface="Times New Roman" panose="02020603050405020304" pitchFamily="18" charset="0"/>
                <a:cs typeface="Times New Roman" panose="02020603050405020304" pitchFamily="18" charset="0"/>
              </a:rPr>
              <a:t>IoT </a:t>
            </a:r>
            <a:r>
              <a:rPr lang="en-US" sz="2400" dirty="0">
                <a:latin typeface="Times New Roman" panose="02020603050405020304" pitchFamily="18" charset="0"/>
                <a:cs typeface="Times New Roman" panose="02020603050405020304" pitchFamily="18" charset="0"/>
              </a:rPr>
              <a:t>Based ICU Patient Monitoring System is an enhanced system that helps in monitoring ICU Patients without any manual intervention.</a:t>
            </a:r>
          </a:p>
        </p:txBody>
      </p:sp>
      <p:sp>
        <p:nvSpPr>
          <p:cNvPr id="4" name="Date Placeholder 3">
            <a:extLst>
              <a:ext uri="{FF2B5EF4-FFF2-40B4-BE49-F238E27FC236}">
                <a16:creationId xmlns:a16="http://schemas.microsoft.com/office/drawing/2014/main" xmlns="" id="{FF6D29A1-4200-409A-BFD1-73D47407E03F}"/>
              </a:ext>
            </a:extLst>
          </p:cNvPr>
          <p:cNvSpPr>
            <a:spLocks noGrp="1"/>
          </p:cNvSpPr>
          <p:nvPr>
            <p:ph type="dt" sz="half" idx="10"/>
          </p:nvPr>
        </p:nvSpPr>
        <p:spPr/>
        <p:txBody>
          <a:bodyPr/>
          <a:lstStyle/>
          <a:p>
            <a:fld id="{2E271D8C-E9AB-4A41-9550-10E5A271E3DC}" type="datetime1">
              <a:rPr lang="en-IN" smtClean="0"/>
              <a:t>06-09-2024</a:t>
            </a:fld>
            <a:endParaRPr lang="en-IN"/>
          </a:p>
        </p:txBody>
      </p:sp>
      <p:sp>
        <p:nvSpPr>
          <p:cNvPr id="5" name="Slide Number Placeholder 4">
            <a:extLst>
              <a:ext uri="{FF2B5EF4-FFF2-40B4-BE49-F238E27FC236}">
                <a16:creationId xmlns:a16="http://schemas.microsoft.com/office/drawing/2014/main" xmlns="" id="{28AA1F55-AE86-4A49-845E-C3ACBE300B72}"/>
              </a:ext>
            </a:extLst>
          </p:cNvPr>
          <p:cNvSpPr>
            <a:spLocks noGrp="1"/>
          </p:cNvSpPr>
          <p:nvPr>
            <p:ph type="sldNum" sz="quarter" idx="12"/>
          </p:nvPr>
        </p:nvSpPr>
        <p:spPr/>
        <p:txBody>
          <a:bodyPr/>
          <a:lstStyle/>
          <a:p>
            <a:fld id="{E4371DF9-27D1-4286-99A9-B07A2966053B}" type="slidenum">
              <a:rPr lang="en-IN" smtClean="0"/>
              <a:t>3</a:t>
            </a:fld>
            <a:endParaRPr lang="en-IN"/>
          </a:p>
        </p:txBody>
      </p:sp>
    </p:spTree>
    <p:extLst>
      <p:ext uri="{BB962C8B-B14F-4D97-AF65-F5344CB8AC3E}">
        <p14:creationId xmlns:p14="http://schemas.microsoft.com/office/powerpoint/2010/main" val="8594482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B8B251-63DF-5D2A-E3C5-D846E687028C}"/>
              </a:ext>
            </a:extLst>
          </p:cNvPr>
          <p:cNvSpPr>
            <a:spLocks noGrp="1"/>
          </p:cNvSpPr>
          <p:nvPr>
            <p:ph type="title"/>
          </p:nvPr>
        </p:nvSpPr>
        <p:spPr>
          <a:xfrm>
            <a:off x="642730" y="119220"/>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Literature </a:t>
            </a:r>
            <a:r>
              <a:rPr lang="en-US" sz="4000" b="1" dirty="0" smtClean="0">
                <a:solidFill>
                  <a:srgbClr val="002060"/>
                </a:solidFill>
                <a:latin typeface="Times New Roman" panose="02020603050405020304" pitchFamily="18" charset="0"/>
                <a:cs typeface="Times New Roman" panose="02020603050405020304" pitchFamily="18" charset="0"/>
              </a:rPr>
              <a:t>Review: </a:t>
            </a:r>
            <a:r>
              <a:rPr lang="en-US" sz="4400" dirty="0">
                <a:solidFill>
                  <a:srgbClr val="002060"/>
                </a:solidFill>
                <a:latin typeface="Times New Roman" panose="02020603050405020304" pitchFamily="18" charset="0"/>
                <a:cs typeface="Times New Roman" panose="02020603050405020304" pitchFamily="18" charset="0"/>
              </a:rPr>
              <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graphicFrame>
        <p:nvGraphicFramePr>
          <p:cNvPr id="4" name="Table 15">
            <a:extLst>
              <a:ext uri="{FF2B5EF4-FFF2-40B4-BE49-F238E27FC236}">
                <a16:creationId xmlns:a16="http://schemas.microsoft.com/office/drawing/2014/main" xmlns="" id="{B904DA78-47BE-4D6C-96EE-473319F6FB0C}"/>
              </a:ext>
            </a:extLst>
          </p:cNvPr>
          <p:cNvGraphicFramePr>
            <a:graphicFrameLocks noGrp="1"/>
          </p:cNvGraphicFramePr>
          <p:nvPr>
            <p:extLst>
              <p:ext uri="{D42A27DB-BD31-4B8C-83A1-F6EECF244321}">
                <p14:modId xmlns:p14="http://schemas.microsoft.com/office/powerpoint/2010/main" val="2356553847"/>
              </p:ext>
            </p:extLst>
          </p:nvPr>
        </p:nvGraphicFramePr>
        <p:xfrm>
          <a:off x="642730" y="730477"/>
          <a:ext cx="11092071" cy="5661270"/>
        </p:xfrm>
        <a:graphic>
          <a:graphicData uri="http://schemas.openxmlformats.org/drawingml/2006/table">
            <a:tbl>
              <a:tblPr firstRow="1" bandRow="1">
                <a:tableStyleId>{5A111915-BE36-4E01-A7E5-04B1672EAD32}</a:tableStyleId>
              </a:tblPr>
              <a:tblGrid>
                <a:gridCol w="726783">
                  <a:extLst>
                    <a:ext uri="{9D8B030D-6E8A-4147-A177-3AD203B41FA5}">
                      <a16:colId xmlns:a16="http://schemas.microsoft.com/office/drawing/2014/main" xmlns="" val="595444224"/>
                    </a:ext>
                  </a:extLst>
                </a:gridCol>
                <a:gridCol w="2621582">
                  <a:extLst>
                    <a:ext uri="{9D8B030D-6E8A-4147-A177-3AD203B41FA5}">
                      <a16:colId xmlns:a16="http://schemas.microsoft.com/office/drawing/2014/main" xmlns="" val="884297823"/>
                    </a:ext>
                  </a:extLst>
                </a:gridCol>
                <a:gridCol w="1635280">
                  <a:extLst>
                    <a:ext uri="{9D8B030D-6E8A-4147-A177-3AD203B41FA5}">
                      <a16:colId xmlns:a16="http://schemas.microsoft.com/office/drawing/2014/main" xmlns="" val="4198048767"/>
                    </a:ext>
                  </a:extLst>
                </a:gridCol>
                <a:gridCol w="3054213">
                  <a:extLst>
                    <a:ext uri="{9D8B030D-6E8A-4147-A177-3AD203B41FA5}">
                      <a16:colId xmlns:a16="http://schemas.microsoft.com/office/drawing/2014/main" xmlns="" val="3512622636"/>
                    </a:ext>
                  </a:extLst>
                </a:gridCol>
                <a:gridCol w="3054213">
                  <a:extLst>
                    <a:ext uri="{9D8B030D-6E8A-4147-A177-3AD203B41FA5}">
                      <a16:colId xmlns:a16="http://schemas.microsoft.com/office/drawing/2014/main" xmlns="" val="2780044068"/>
                    </a:ext>
                  </a:extLst>
                </a:gridCol>
              </a:tblGrid>
              <a:tr h="311757">
                <a:tc>
                  <a:txBody>
                    <a:bodyPr/>
                    <a:lstStyle/>
                    <a:p>
                      <a:r>
                        <a:rPr lang="en-GB" sz="1200" dirty="0"/>
                        <a:t>SL. No</a:t>
                      </a:r>
                      <a:endParaRPr lang="en-GB" sz="1200" dirty="0">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r>
                        <a:rPr lang="en-GB" sz="1200" dirty="0"/>
                        <a:t>Title and Author’s</a:t>
                      </a:r>
                      <a:endParaRPr lang="en-GB" sz="1200" dirty="0">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r>
                        <a:rPr lang="en-GB" sz="1200" dirty="0"/>
                        <a:t>Paper Details</a:t>
                      </a:r>
                      <a:endParaRPr lang="en-GB" sz="1200" dirty="0">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smtClean="0"/>
                        <a:t>Description </a:t>
                      </a: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t>Key Findings </a:t>
                      </a: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xmlns="" val="1626373886"/>
                  </a:ext>
                </a:extLst>
              </a:tr>
              <a:tr h="1845530">
                <a:tc>
                  <a:txBody>
                    <a:bodyPr/>
                    <a:lstStyle/>
                    <a:p>
                      <a:r>
                        <a:rPr lang="en-US" sz="1200" dirty="0"/>
                        <a:t>1.</a:t>
                      </a:r>
                      <a:endParaRPr lang="en-GB" sz="1200" dirty="0">
                        <a:latin typeface="Times New Roman" panose="02020603050405020304" pitchFamily="18" charset="0"/>
                        <a:cs typeface="Times New Roman" panose="02020603050405020304" pitchFamily="18" charset="0"/>
                      </a:endParaRPr>
                    </a:p>
                  </a:txBody>
                  <a:tcPr/>
                </a:tc>
                <a:tc>
                  <a:txBody>
                    <a:bodyPr/>
                    <a:lstStyle/>
                    <a:p>
                      <a:pPr algn="just"/>
                      <a:r>
                        <a:rPr lang="en-US" sz="1200" b="1" u="sng" kern="1200" dirty="0">
                          <a:solidFill>
                            <a:schemeClr val="dk1"/>
                          </a:solidFill>
                          <a:effectLst/>
                        </a:rPr>
                        <a:t>Title</a:t>
                      </a:r>
                      <a:r>
                        <a:rPr lang="en-US" sz="1200" b="1" kern="1200" dirty="0">
                          <a:solidFill>
                            <a:schemeClr val="dk1"/>
                          </a:solidFill>
                          <a:effectLst/>
                        </a:rPr>
                        <a:t> </a:t>
                      </a:r>
                      <a:r>
                        <a:rPr lang="en-US" sz="1200" b="0" kern="1200" dirty="0">
                          <a:solidFill>
                            <a:schemeClr val="dk1"/>
                          </a:solidFill>
                          <a:effectLst/>
                        </a:rPr>
                        <a:t>: </a:t>
                      </a:r>
                      <a:r>
                        <a:rPr lang="en-US" sz="1200" b="0" i="0" kern="1200" dirty="0" smtClean="0">
                          <a:solidFill>
                            <a:schemeClr val="tx1"/>
                          </a:solidFill>
                          <a:effectLst/>
                          <a:latin typeface="+mn-lt"/>
                          <a:ea typeface="+mn-ea"/>
                          <a:cs typeface="+mn-cs"/>
                        </a:rPr>
                        <a:t>IoT</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Based ICU Patient Monitoring System</a:t>
                      </a:r>
                    </a:p>
                    <a:p>
                      <a:pPr algn="just"/>
                      <a:r>
                        <a:rPr lang="en-US" sz="1200" b="1" u="sng" kern="1200" dirty="0" smtClean="0">
                          <a:solidFill>
                            <a:schemeClr val="dk1"/>
                          </a:solidFill>
                          <a:effectLst/>
                        </a:rPr>
                        <a:t>Author’s</a:t>
                      </a:r>
                      <a:r>
                        <a:rPr lang="en-US" sz="1200" b="0" kern="1200" dirty="0" smtClean="0">
                          <a:solidFill>
                            <a:schemeClr val="dk1"/>
                          </a:solidFill>
                          <a:effectLst/>
                        </a:rPr>
                        <a:t> :</a:t>
                      </a:r>
                      <a:r>
                        <a:rPr lang="en-US" sz="1200" b="0" kern="1200" baseline="0" dirty="0" smtClean="0">
                          <a:solidFill>
                            <a:schemeClr val="dk1"/>
                          </a:solidFill>
                          <a:effectLst/>
                        </a:rPr>
                        <a:t> </a:t>
                      </a:r>
                      <a:r>
                        <a:rPr lang="fi-FI" sz="1200" b="0" i="0" kern="1200" dirty="0" smtClean="0">
                          <a:solidFill>
                            <a:schemeClr val="tx1"/>
                          </a:solidFill>
                          <a:effectLst/>
                          <a:latin typeface="+mn-lt"/>
                          <a:ea typeface="+mn-ea"/>
                          <a:cs typeface="+mn-cs"/>
                        </a:rPr>
                        <a:t>Sai Srinivas Vellela, G Varshitha, V Suresh, V Sai Vineeth, L Venkata Suresh.</a:t>
                      </a:r>
                      <a:endParaRPr lang="en-US" sz="12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200" b="0" i="0" kern="1200" dirty="0" smtClean="0">
                          <a:solidFill>
                            <a:schemeClr val="tx1"/>
                          </a:solidFill>
                          <a:effectLst/>
                          <a:latin typeface="+mn-lt"/>
                          <a:ea typeface="+mn-ea"/>
                          <a:cs typeface="+mn-cs"/>
                        </a:rPr>
                        <a:t>IoT Based ICU Patient Monitoring </a:t>
                      </a:r>
                    </a:p>
                    <a:p>
                      <a:pPr algn="just"/>
                      <a:r>
                        <a:rPr lang="en-US" sz="1200" b="0" i="0" kern="1200" dirty="0" smtClean="0">
                          <a:solidFill>
                            <a:schemeClr val="tx1"/>
                          </a:solidFill>
                          <a:effectLst/>
                          <a:latin typeface="+mn-lt"/>
                          <a:ea typeface="+mn-ea"/>
                          <a:cs typeface="+mn-cs"/>
                        </a:rPr>
                        <a:t>System, International Journal for Modern Trends in Science and Technology, 2024, 10(02), pages. 265-273.</a:t>
                      </a:r>
                      <a:endParaRPr lang="en-US" sz="1200" b="0" i="0" kern="1200" dirty="0">
                        <a:solidFill>
                          <a:schemeClr val="tx1"/>
                        </a:solidFill>
                        <a:effectLst/>
                        <a:latin typeface="+mn-lt"/>
                        <a:ea typeface="+mn-ea"/>
                        <a:cs typeface="+mn-cs"/>
                      </a:endParaRPr>
                    </a:p>
                  </a:txBody>
                  <a:tcPr/>
                </a:tc>
                <a:tc>
                  <a:txBody>
                    <a:bodyPr/>
                    <a:lstStyle/>
                    <a:p>
                      <a:pPr algn="just"/>
                      <a:r>
                        <a:rPr lang="en-US" sz="1200" b="0" i="0" kern="1200" dirty="0" smtClean="0">
                          <a:solidFill>
                            <a:schemeClr val="tx1"/>
                          </a:solidFill>
                          <a:effectLst/>
                          <a:latin typeface="+mn-lt"/>
                          <a:ea typeface="+mn-ea"/>
                          <a:cs typeface="+mn-cs"/>
                        </a:rPr>
                        <a:t>The "IoT-Based ICU Patient Monitoring System" is a cutting-edge project designed to revolutionize patient care in Intensive Care Units (ICUs). Leveraging Internet of Things (IoT)technologies, the system integrates various sensors, communication modules, and data analytics</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to enable continuous and real-time monitoring of critical health parameters. </a:t>
                      </a:r>
                      <a:endParaRPr lang="en-US" sz="12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US" sz="1200" b="0" i="0" kern="1200" dirty="0" smtClean="0">
                          <a:solidFill>
                            <a:schemeClr val="tx1"/>
                          </a:solidFill>
                          <a:effectLst/>
                          <a:latin typeface="+mn-lt"/>
                          <a:ea typeface="+mn-ea"/>
                          <a:cs typeface="+mn-cs"/>
                        </a:rPr>
                        <a:t>An </a:t>
                      </a:r>
                      <a:r>
                        <a:rPr lang="en-US" sz="1200" b="0" i="0" kern="1200" dirty="0" err="1" smtClean="0">
                          <a:solidFill>
                            <a:schemeClr val="tx1"/>
                          </a:solidFill>
                          <a:effectLst/>
                          <a:latin typeface="+mn-lt"/>
                          <a:ea typeface="+mn-ea"/>
                          <a:cs typeface="+mn-cs"/>
                        </a:rPr>
                        <a:t>IoT</a:t>
                      </a:r>
                      <a:r>
                        <a:rPr lang="en-US" sz="1200" b="0" i="0" kern="1200" dirty="0" smtClean="0">
                          <a:solidFill>
                            <a:schemeClr val="tx1"/>
                          </a:solidFill>
                          <a:effectLst/>
                          <a:latin typeface="+mn-lt"/>
                          <a:ea typeface="+mn-ea"/>
                          <a:cs typeface="+mn-cs"/>
                        </a:rPr>
                        <a:t>-based patient</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monitoring system utilizing ECG sensors represents a pioneering approach to healthcare , merging cutting-edge</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technology with personalized patient care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200" b="0" i="0" kern="1200" dirty="0" smtClean="0">
                        <a:solidFill>
                          <a:schemeClr val="tx1"/>
                        </a:solidFill>
                        <a:effectLst/>
                        <a:latin typeface="+mn-lt"/>
                        <a:ea typeface="+mn-ea"/>
                        <a:cs typeface="+mn-cs"/>
                      </a:endParaRPr>
                    </a:p>
                  </a:txBody>
                  <a:tcPr/>
                </a:tc>
                <a:extLst>
                  <a:ext uri="{0D108BD9-81ED-4DB2-BD59-A6C34878D82A}">
                    <a16:rowId xmlns:a16="http://schemas.microsoft.com/office/drawing/2014/main" xmlns="" val="1752819470"/>
                  </a:ext>
                </a:extLst>
              </a:tr>
              <a:tr h="1591609">
                <a:tc>
                  <a:txBody>
                    <a:bodyPr/>
                    <a:lstStyle/>
                    <a:p>
                      <a:r>
                        <a:rPr lang="en-US" sz="1200" dirty="0"/>
                        <a:t>2.</a:t>
                      </a:r>
                      <a:endParaRPr lang="en-GB" sz="12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1" u="sng" kern="1200" dirty="0">
                          <a:solidFill>
                            <a:schemeClr val="dk1"/>
                          </a:solidFill>
                          <a:effectLst/>
                        </a:rPr>
                        <a:t>Title</a:t>
                      </a:r>
                      <a:r>
                        <a:rPr lang="en-US" sz="1200" b="1" kern="1200" dirty="0">
                          <a:solidFill>
                            <a:schemeClr val="dk1"/>
                          </a:solidFill>
                          <a:effectLst/>
                        </a:rPr>
                        <a:t> </a:t>
                      </a:r>
                      <a:r>
                        <a:rPr lang="en-US" sz="1200" b="0" kern="1200" dirty="0" smtClean="0">
                          <a:solidFill>
                            <a:schemeClr val="dk1"/>
                          </a:solidFill>
                          <a:effectLst/>
                        </a:rPr>
                        <a:t>:</a:t>
                      </a:r>
                      <a:r>
                        <a:rPr lang="en-US" sz="1200" b="0" i="0" kern="1200" dirty="0" smtClean="0">
                          <a:solidFill>
                            <a:schemeClr val="tx1"/>
                          </a:solidFill>
                          <a:effectLst/>
                          <a:latin typeface="+mn-lt"/>
                          <a:ea typeface="+mn-ea"/>
                          <a:cs typeface="+mn-cs"/>
                        </a:rPr>
                        <a:t>IoT Based Patient Monitoring System using Sensors to Detect, Analysis and Monitor Two Primary Vital Signs.</a:t>
                      </a:r>
                    </a:p>
                    <a:p>
                      <a:pPr algn="just"/>
                      <a:r>
                        <a:rPr lang="en-US" sz="1200" b="1" u="sng" kern="1200" dirty="0" smtClean="0">
                          <a:solidFill>
                            <a:schemeClr val="dk1"/>
                          </a:solidFill>
                          <a:effectLst/>
                        </a:rPr>
                        <a:t>Author’s</a:t>
                      </a:r>
                      <a:r>
                        <a:rPr lang="en-US" sz="1200" b="0" kern="1200" dirty="0" smtClean="0">
                          <a:solidFill>
                            <a:schemeClr val="dk1"/>
                          </a:solidFill>
                          <a:effectLst/>
                        </a:rPr>
                        <a:t> :</a:t>
                      </a:r>
                      <a:r>
                        <a:rPr lang="en-US" sz="1200" b="0" i="0" kern="1200" dirty="0" smtClean="0">
                          <a:solidFill>
                            <a:schemeClr val="tx1"/>
                          </a:solidFill>
                          <a:effectLst/>
                          <a:latin typeface="+mn-lt"/>
                          <a:ea typeface="+mn-ea"/>
                          <a:cs typeface="+mn-cs"/>
                        </a:rPr>
                        <a:t>Nor Shahanim Mohamad Hadis*, Muhammad Nazri Amirnazarullah, Muhammad Mahdi Jafri, Samihah Abdullah.</a:t>
                      </a:r>
                    </a:p>
                    <a:p>
                      <a:endParaRPr lang="en-GB" sz="1200" dirty="0">
                        <a:latin typeface="Times New Roman" panose="02020603050405020304" pitchFamily="18" charset="0"/>
                        <a:cs typeface="Times New Roman" panose="02020603050405020304" pitchFamily="18" charset="0"/>
                      </a:endParaRPr>
                    </a:p>
                  </a:txBody>
                  <a:tcPr/>
                </a:tc>
                <a:tc>
                  <a:txBody>
                    <a:bodyPr/>
                    <a:lstStyle/>
                    <a:p>
                      <a:pPr algn="just"/>
                      <a:r>
                        <a:rPr lang="en-GB" sz="1200" dirty="0" smtClean="0">
                          <a:latin typeface="+mn-lt"/>
                          <a:cs typeface="+mn-cs"/>
                        </a:rPr>
                        <a:t>Journal</a:t>
                      </a:r>
                      <a:r>
                        <a:rPr lang="en-GB" sz="1200" baseline="0" dirty="0" smtClean="0">
                          <a:latin typeface="+mn-lt"/>
                          <a:cs typeface="+mn-cs"/>
                        </a:rPr>
                        <a:t> of physics : Conference series , volume 1535,29-30-April 2019,Penang, Malaysia.</a:t>
                      </a:r>
                      <a:endParaRPr lang="en-GB" sz="1200" dirty="0">
                        <a:latin typeface="Times New Roman" panose="02020603050405020304" pitchFamily="18" charset="0"/>
                        <a:cs typeface="Times New Roman" panose="02020603050405020304" pitchFamily="18" charset="0"/>
                      </a:endParaRPr>
                    </a:p>
                  </a:txBody>
                  <a:tcPr/>
                </a:tc>
                <a:tc>
                  <a:txBody>
                    <a:bodyPr/>
                    <a:lstStyle/>
                    <a:p>
                      <a:pPr algn="just"/>
                      <a:r>
                        <a:rPr lang="en-US" sz="1200" b="0" i="0" kern="1200" dirty="0" smtClean="0">
                          <a:solidFill>
                            <a:schemeClr val="tx1"/>
                          </a:solidFill>
                          <a:effectLst/>
                          <a:latin typeface="+mn-lt"/>
                          <a:ea typeface="+mn-ea"/>
                          <a:cs typeface="+mn-cs"/>
                        </a:rPr>
                        <a:t>This paper presents the development of patient monitoring system for two primary </a:t>
                      </a:r>
                    </a:p>
                    <a:p>
                      <a:pPr algn="just"/>
                      <a:r>
                        <a:rPr lang="en-US" sz="1200" b="0" i="0" kern="1200" dirty="0" smtClean="0">
                          <a:solidFill>
                            <a:schemeClr val="tx1"/>
                          </a:solidFill>
                          <a:effectLst/>
                          <a:latin typeface="+mn-lt"/>
                          <a:ea typeface="+mn-ea"/>
                          <a:cs typeface="+mn-cs"/>
                        </a:rPr>
                        <a:t>vital signs of body temperature and</a:t>
                      </a:r>
                    </a:p>
                    <a:p>
                      <a:pPr algn="just"/>
                      <a:r>
                        <a:rPr lang="en-US" sz="1200" b="0" i="0" kern="1200" dirty="0" smtClean="0">
                          <a:solidFill>
                            <a:schemeClr val="tx1"/>
                          </a:solidFill>
                          <a:effectLst/>
                          <a:latin typeface="+mn-lt"/>
                          <a:ea typeface="+mn-ea"/>
                          <a:cs typeface="+mn-cs"/>
                        </a:rPr>
                        <a:t>respiratory rate. The monitoring system was implemented in IoT platform and designed using Arduino Mega 2560 and ESP8266 Wi-Fi Module.</a:t>
                      </a:r>
                    </a:p>
                    <a:p>
                      <a:pPr algn="just"/>
                      <a:endParaRPr lang="en-GB" sz="12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US" sz="1200" b="0" i="0" kern="1200" dirty="0" smtClean="0">
                          <a:solidFill>
                            <a:schemeClr val="tx1"/>
                          </a:solidFill>
                          <a:effectLst/>
                          <a:latin typeface="+mn-lt"/>
                          <a:ea typeface="+mn-ea"/>
                          <a:cs typeface="+mn-cs"/>
                        </a:rPr>
                        <a:t>Hospital is a busy place with the doctors and nurses work hard to saves lives and improving patient’s health.</a:t>
                      </a:r>
                    </a:p>
                    <a:p>
                      <a:pPr marL="171450" indent="-171450" algn="just">
                        <a:buFont typeface="Arial" panose="020B0604020202020204" pitchFamily="34" charset="0"/>
                        <a:buChar char="•"/>
                      </a:pPr>
                      <a:r>
                        <a:rPr lang="en-US" sz="1200" b="0" i="0" kern="1200" dirty="0" smtClean="0">
                          <a:solidFill>
                            <a:schemeClr val="tx1"/>
                          </a:solidFill>
                          <a:effectLst/>
                          <a:latin typeface="+mn-lt"/>
                          <a:ea typeface="+mn-ea"/>
                          <a:cs typeface="+mn-cs"/>
                        </a:rPr>
                        <a:t>The vital signs are usually used as the important measurements to the patient’s body.</a:t>
                      </a:r>
                    </a:p>
                    <a:p>
                      <a:pPr marL="171450" indent="-171450" algn="just">
                        <a:buFont typeface="Arial" panose="020B0604020202020204" pitchFamily="34" charset="0"/>
                        <a:buChar char="•"/>
                      </a:pPr>
                      <a:endParaRPr lang="en-GB"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483295050"/>
                  </a:ext>
                </a:extLst>
              </a:tr>
              <a:tr h="1766623">
                <a:tc>
                  <a:txBody>
                    <a:bodyPr/>
                    <a:lstStyle/>
                    <a:p>
                      <a:r>
                        <a:rPr lang="en-GB" sz="1200" dirty="0" smtClean="0">
                          <a:latin typeface="Calibri" panose="020F0502020204030204" pitchFamily="34" charset="0"/>
                          <a:ea typeface="Calibri" panose="020F0502020204030204" pitchFamily="34" charset="0"/>
                          <a:cs typeface="Calibri" panose="020F0502020204030204" pitchFamily="34" charset="0"/>
                        </a:rPr>
                        <a:t>3.</a:t>
                      </a:r>
                      <a:endParaRPr lang="en-GB" sz="12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just"/>
                      <a:r>
                        <a:rPr lang="en-US" sz="1200" b="1" u="sng" dirty="0" smtClean="0">
                          <a:latin typeface="Calibri" panose="020F0502020204030204" pitchFamily="34" charset="0"/>
                          <a:ea typeface="Calibri" panose="020F0502020204030204" pitchFamily="34" charset="0"/>
                          <a:cs typeface="Calibri" panose="020F0502020204030204" pitchFamily="34" charset="0"/>
                        </a:rPr>
                        <a:t>Title :</a:t>
                      </a:r>
                      <a:r>
                        <a:rPr lang="en-US" sz="1200" u="sng" dirty="0" smtClean="0">
                          <a:latin typeface="Calibri" panose="020F0502020204030204" pitchFamily="34" charset="0"/>
                          <a:ea typeface="Calibri" panose="020F0502020204030204" pitchFamily="34" charset="0"/>
                          <a:cs typeface="Calibri" panose="020F0502020204030204" pitchFamily="34" charset="0"/>
                        </a:rPr>
                        <a:t> </a:t>
                      </a:r>
                      <a:r>
                        <a:rPr lang="en-US" sz="1200" dirty="0" smtClean="0">
                          <a:latin typeface="Calibri" panose="020F0502020204030204" pitchFamily="34" charset="0"/>
                          <a:ea typeface="Calibri" panose="020F0502020204030204" pitchFamily="34" charset="0"/>
                          <a:cs typeface="Calibri" panose="020F0502020204030204" pitchFamily="34" charset="0"/>
                        </a:rPr>
                        <a:t>"IoT</a:t>
                      </a:r>
                      <a:r>
                        <a:rPr lang="en-US" sz="1200" baseline="0" dirty="0" smtClean="0">
                          <a:latin typeface="Calibri" panose="020F0502020204030204" pitchFamily="34" charset="0"/>
                          <a:ea typeface="Calibri" panose="020F0502020204030204" pitchFamily="34" charset="0"/>
                          <a:cs typeface="Calibri" panose="020F0502020204030204" pitchFamily="34" charset="0"/>
                        </a:rPr>
                        <a:t> </a:t>
                      </a:r>
                      <a:r>
                        <a:rPr lang="en-US" sz="1200" dirty="0" smtClean="0">
                          <a:latin typeface="Calibri" panose="020F0502020204030204" pitchFamily="34" charset="0"/>
                          <a:ea typeface="Calibri" panose="020F0502020204030204" pitchFamily="34" charset="0"/>
                          <a:cs typeface="Calibri" panose="020F0502020204030204" pitchFamily="34" charset="0"/>
                        </a:rPr>
                        <a:t>Based Patient Monitoring System for ICU: A Real-Time Approach”</a:t>
                      </a:r>
                      <a:endParaRPr lang="en-GB" sz="1200" dirty="0" smtClean="0">
                        <a:latin typeface="Calibri" panose="020F0502020204030204" pitchFamily="34" charset="0"/>
                        <a:ea typeface="Calibri" panose="020F0502020204030204" pitchFamily="34" charset="0"/>
                        <a:cs typeface="Calibri" panose="020F0502020204030204" pitchFamily="34" charset="0"/>
                      </a:endParaRPr>
                    </a:p>
                    <a:p>
                      <a:r>
                        <a:rPr lang="en-US" sz="1200" b="1" u="sng" dirty="0" smtClean="0">
                          <a:latin typeface="+mn-lt"/>
                          <a:ea typeface="Calibri" panose="020F0502020204030204" pitchFamily="34" charset="0"/>
                          <a:cs typeface="Calibri" panose="020F0502020204030204" pitchFamily="34" charset="0"/>
                        </a:rPr>
                        <a:t>Author’s :</a:t>
                      </a:r>
                      <a:r>
                        <a:rPr lang="en-US" sz="1200" dirty="0" smtClean="0">
                          <a:latin typeface="+mn-lt"/>
                          <a:ea typeface="Calibri" panose="020F0502020204030204" pitchFamily="34" charset="0"/>
                          <a:cs typeface="Calibri" panose="020F0502020204030204" pitchFamily="34" charset="0"/>
                        </a:rPr>
                        <a:t> S. S. Rao, A. K. Singh, and M. A. Hussain</a:t>
                      </a:r>
                      <a:endParaRPr lang="en-GB" sz="1200" dirty="0">
                        <a:latin typeface="+mn-lt"/>
                        <a:ea typeface="Calibri" panose="020F0502020204030204" pitchFamily="34" charset="0"/>
                        <a:cs typeface="Calibri" panose="020F0502020204030204" pitchFamily="34" charset="0"/>
                      </a:endParaRPr>
                    </a:p>
                  </a:txBody>
                  <a:tcPr/>
                </a:tc>
                <a:tc>
                  <a:txBody>
                    <a:bodyPr/>
                    <a:lstStyle/>
                    <a:p>
                      <a:pPr algn="just"/>
                      <a:r>
                        <a:rPr lang="en-US" sz="1200" dirty="0" smtClean="0">
                          <a:latin typeface="Calibri" panose="020F0502020204030204" pitchFamily="34" charset="0"/>
                          <a:ea typeface="Calibri" panose="020F0502020204030204" pitchFamily="34" charset="0"/>
                          <a:cs typeface="Calibri" panose="020F0502020204030204" pitchFamily="34" charset="0"/>
                        </a:rPr>
                        <a:t>Journal: IEEE Journal of Biomedical and Health Informatics- Volume: 24- Issue: 3- Pages: 831-838- Year: 2020- DOI: 10.1109/JBHI.2019.2944993</a:t>
                      </a:r>
                      <a:endParaRPr lang="en-GB" sz="12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just"/>
                      <a:r>
                        <a:rPr lang="en-US" sz="1200" dirty="0" smtClean="0">
                          <a:latin typeface="+mn-lt"/>
                          <a:cs typeface="Times New Roman" panose="02020603050405020304" pitchFamily="18" charset="0"/>
                        </a:rPr>
                        <a:t>This paper proposes an </a:t>
                      </a:r>
                      <a:r>
                        <a:rPr lang="en-US" sz="1200" dirty="0" err="1" smtClean="0">
                          <a:latin typeface="+mn-lt"/>
                          <a:cs typeface="Times New Roman" panose="02020603050405020304" pitchFamily="18" charset="0"/>
                        </a:rPr>
                        <a:t>IoT</a:t>
                      </a:r>
                      <a:r>
                        <a:rPr lang="en-US" sz="1200" dirty="0" smtClean="0">
                          <a:latin typeface="+mn-lt"/>
                          <a:cs typeface="Times New Roman" panose="02020603050405020304" pitchFamily="18" charset="0"/>
                        </a:rPr>
                        <a:t>-based patient monitoring system for ICUs, enabling real-time monitoring of patients' vital signs and health parameters. The system uses wearable sensors, IoT devices, and cloud computing to provide remote monitoring and automated alerts.</a:t>
                      </a:r>
                      <a:endParaRPr lang="en-GB" sz="1200" dirty="0">
                        <a:latin typeface="+mn-lt"/>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latin typeface="+mn-lt"/>
                          <a:cs typeface="Times New Roman" panose="02020603050405020304" pitchFamily="18" charset="0"/>
                        </a:rPr>
                        <a:t>The proposed system achieved 95% accuracy in monitoring patients' vital signs.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latin typeface="+mn-lt"/>
                          <a:cs typeface="Times New Roman" panose="02020603050405020304" pitchFamily="18" charset="0"/>
                        </a:rPr>
                        <a:t> The system reduced response time to emergencies by 30% compared to traditional monitoring methods.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latin typeface="+mn-lt"/>
                          <a:cs typeface="Times New Roman" panose="02020603050405020304" pitchFamily="18" charset="0"/>
                        </a:rPr>
                        <a:t> The system improved patient care and outcomes by enabling timely interventions.</a:t>
                      </a:r>
                      <a:endParaRPr lang="en-GB" sz="1200" dirty="0">
                        <a:latin typeface="+mn-lt"/>
                        <a:cs typeface="Times New Roman" panose="02020603050405020304" pitchFamily="18" charset="0"/>
                      </a:endParaRPr>
                    </a:p>
                  </a:txBody>
                  <a:tcPr/>
                </a:tc>
                <a:extLst>
                  <a:ext uri="{0D108BD9-81ED-4DB2-BD59-A6C34878D82A}">
                    <a16:rowId xmlns:a16="http://schemas.microsoft.com/office/drawing/2014/main" xmlns="" val="3309587393"/>
                  </a:ext>
                </a:extLst>
              </a:tr>
            </a:tbl>
          </a:graphicData>
        </a:graphic>
      </p:graphicFrame>
      <p:sp>
        <p:nvSpPr>
          <p:cNvPr id="5" name="Date Placeholder 4">
            <a:extLst>
              <a:ext uri="{FF2B5EF4-FFF2-40B4-BE49-F238E27FC236}">
                <a16:creationId xmlns:a16="http://schemas.microsoft.com/office/drawing/2014/main" xmlns="" id="{EF090836-6F88-4634-AD50-98CF45D7CA1E}"/>
              </a:ext>
            </a:extLst>
          </p:cNvPr>
          <p:cNvSpPr>
            <a:spLocks noGrp="1"/>
          </p:cNvSpPr>
          <p:nvPr>
            <p:ph type="dt" sz="half" idx="10"/>
          </p:nvPr>
        </p:nvSpPr>
        <p:spPr/>
        <p:txBody>
          <a:bodyPr/>
          <a:lstStyle/>
          <a:p>
            <a:fld id="{FA7D7197-4478-4A16-888C-EBCD8CC9A904}" type="datetime1">
              <a:rPr lang="en-IN" smtClean="0"/>
              <a:t>06-09-2024</a:t>
            </a:fld>
            <a:endParaRPr lang="en-IN"/>
          </a:p>
        </p:txBody>
      </p:sp>
      <p:sp>
        <p:nvSpPr>
          <p:cNvPr id="6" name="Slide Number Placeholder 5">
            <a:extLst>
              <a:ext uri="{FF2B5EF4-FFF2-40B4-BE49-F238E27FC236}">
                <a16:creationId xmlns:a16="http://schemas.microsoft.com/office/drawing/2014/main" xmlns="" id="{77DDA2F4-034E-43B3-B9D4-3F0031895A28}"/>
              </a:ext>
            </a:extLst>
          </p:cNvPr>
          <p:cNvSpPr>
            <a:spLocks noGrp="1"/>
          </p:cNvSpPr>
          <p:nvPr>
            <p:ph type="sldNum" sz="quarter" idx="12"/>
          </p:nvPr>
        </p:nvSpPr>
        <p:spPr/>
        <p:txBody>
          <a:bodyPr/>
          <a:lstStyle/>
          <a:p>
            <a:fld id="{E4371DF9-27D1-4286-99A9-B07A2966053B}" type="slidenum">
              <a:rPr lang="en-IN" smtClean="0"/>
              <a:t>4</a:t>
            </a:fld>
            <a:endParaRPr lang="en-IN"/>
          </a:p>
        </p:txBody>
      </p:sp>
    </p:spTree>
    <p:extLst>
      <p:ext uri="{BB962C8B-B14F-4D97-AF65-F5344CB8AC3E}">
        <p14:creationId xmlns:p14="http://schemas.microsoft.com/office/powerpoint/2010/main" val="8812115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C160E6-9BEA-2740-9042-8E321BFEA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818B63E-8A41-9D6D-197D-9F722CB2D714}"/>
              </a:ext>
            </a:extLst>
          </p:cNvPr>
          <p:cNvSpPr>
            <a:spLocks noGrp="1"/>
          </p:cNvSpPr>
          <p:nvPr>
            <p:ph type="title"/>
          </p:nvPr>
        </p:nvSpPr>
        <p:spPr>
          <a:xfrm>
            <a:off x="838200" y="288236"/>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Problem Statement:</a:t>
            </a:r>
            <a:r>
              <a:rPr lang="en-US" sz="4400" dirty="0">
                <a:solidFill>
                  <a:srgbClr val="002060"/>
                </a:solidFill>
                <a:latin typeface="Times New Roman" panose="02020603050405020304" pitchFamily="18" charset="0"/>
                <a:cs typeface="Times New Roman" panose="02020603050405020304" pitchFamily="18" charset="0"/>
              </a:rPr>
              <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B1E37B62-5BCF-2684-BBE2-0069B8A5F3F8}"/>
              </a:ext>
            </a:extLst>
          </p:cNvPr>
          <p:cNvSpPr>
            <a:spLocks noGrp="1"/>
          </p:cNvSpPr>
          <p:nvPr>
            <p:ph idx="1"/>
          </p:nvPr>
        </p:nvSpPr>
        <p:spPr>
          <a:xfrm>
            <a:off x="838200" y="1149764"/>
            <a:ext cx="9727096" cy="4351338"/>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Design and implement an </a:t>
            </a:r>
            <a:r>
              <a:rPr lang="en-US" dirty="0" err="1" smtClean="0">
                <a:latin typeface="Times New Roman" panose="02020603050405020304" pitchFamily="18" charset="0"/>
                <a:cs typeface="Times New Roman" panose="02020603050405020304" pitchFamily="18" charset="0"/>
              </a:rPr>
              <a:t>IoT</a:t>
            </a:r>
            <a:r>
              <a:rPr lang="en-US" dirty="0" smtClean="0">
                <a:latin typeface="Times New Roman" panose="02020603050405020304" pitchFamily="18" charset="0"/>
                <a:cs typeface="Times New Roman" panose="02020603050405020304" pitchFamily="18" charset="0"/>
              </a:rPr>
              <a:t>-based </a:t>
            </a:r>
            <a:r>
              <a:rPr lang="en-US" dirty="0">
                <a:latin typeface="Times New Roman" panose="02020603050405020304" pitchFamily="18" charset="0"/>
                <a:cs typeface="Times New Roman" panose="02020603050405020304" pitchFamily="18" charset="0"/>
              </a:rPr>
              <a:t>ICU patient monitoring system that allows real-time monitoring of vital signs and conditions of patients in intensive care units.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77EE2BD-4D3C-4A08-8D2D-0F94D11A44B9}"/>
              </a:ext>
            </a:extLst>
          </p:cNvPr>
          <p:cNvSpPr>
            <a:spLocks noGrp="1"/>
          </p:cNvSpPr>
          <p:nvPr>
            <p:ph type="dt" sz="half" idx="10"/>
          </p:nvPr>
        </p:nvSpPr>
        <p:spPr/>
        <p:txBody>
          <a:bodyPr/>
          <a:lstStyle/>
          <a:p>
            <a:fld id="{10F1234E-A7A4-43FA-8A1D-00F5F6A170FC}" type="datetime1">
              <a:rPr lang="en-IN" smtClean="0"/>
              <a:t>06-09-2024</a:t>
            </a:fld>
            <a:endParaRPr lang="en-IN"/>
          </a:p>
        </p:txBody>
      </p:sp>
      <p:sp>
        <p:nvSpPr>
          <p:cNvPr id="5" name="Slide Number Placeholder 4">
            <a:extLst>
              <a:ext uri="{FF2B5EF4-FFF2-40B4-BE49-F238E27FC236}">
                <a16:creationId xmlns:a16="http://schemas.microsoft.com/office/drawing/2014/main" xmlns="" id="{92ED540E-9B91-4B07-8B7F-61553ADEA4CD}"/>
              </a:ext>
            </a:extLst>
          </p:cNvPr>
          <p:cNvSpPr>
            <a:spLocks noGrp="1"/>
          </p:cNvSpPr>
          <p:nvPr>
            <p:ph type="sldNum" sz="quarter" idx="12"/>
          </p:nvPr>
        </p:nvSpPr>
        <p:spPr/>
        <p:txBody>
          <a:bodyPr/>
          <a:lstStyle/>
          <a:p>
            <a:fld id="{E4371DF9-27D1-4286-99A9-B07A2966053B}" type="slidenum">
              <a:rPr lang="en-IN" smtClean="0"/>
              <a:t>5</a:t>
            </a:fld>
            <a:endParaRPr lang="en-IN"/>
          </a:p>
        </p:txBody>
      </p:sp>
    </p:spTree>
    <p:extLst>
      <p:ext uri="{BB962C8B-B14F-4D97-AF65-F5344CB8AC3E}">
        <p14:creationId xmlns:p14="http://schemas.microsoft.com/office/powerpoint/2010/main" val="7702741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53DC12-BF3B-45E5-250A-01ED146A7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76058C0-9719-C83A-7098-6C2EB0537EB5}"/>
              </a:ext>
            </a:extLst>
          </p:cNvPr>
          <p:cNvSpPr>
            <a:spLocks noGrp="1"/>
          </p:cNvSpPr>
          <p:nvPr>
            <p:ph type="title"/>
          </p:nvPr>
        </p:nvSpPr>
        <p:spPr>
          <a:xfrm>
            <a:off x="838200" y="288236"/>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Objectives:</a:t>
            </a:r>
            <a:r>
              <a:rPr lang="en-US" sz="4400" dirty="0">
                <a:solidFill>
                  <a:srgbClr val="002060"/>
                </a:solidFill>
                <a:latin typeface="Times New Roman" panose="02020603050405020304" pitchFamily="18" charset="0"/>
                <a:cs typeface="Times New Roman" panose="02020603050405020304" pitchFamily="18" charset="0"/>
              </a:rPr>
              <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6DBE75A8-9F99-2B26-6EA6-844BC313F655}"/>
              </a:ext>
            </a:extLst>
          </p:cNvPr>
          <p:cNvSpPr>
            <a:spLocks noGrp="1"/>
          </p:cNvSpPr>
          <p:nvPr>
            <p:ph idx="1"/>
          </p:nvPr>
        </p:nvSpPr>
        <p:spPr>
          <a:xfrm>
            <a:off x="838200" y="1169643"/>
            <a:ext cx="9587948" cy="5002558"/>
          </a:xfrm>
        </p:spPr>
        <p:txBody>
          <a:bodyPr>
            <a:normAutofit/>
          </a:bodyPr>
          <a:lstStyle/>
          <a:p>
            <a:pPr algn="just"/>
            <a:r>
              <a:rPr lang="en-US" dirty="0">
                <a:latin typeface="Times New Roman" panose="02020603050405020304" pitchFamily="18" charset="0"/>
                <a:cs typeface="Times New Roman" panose="02020603050405020304" pitchFamily="18" charset="0"/>
              </a:rPr>
              <a:t>The goal of monitoring the patient is to detect problems and manage them as early as possible.</a:t>
            </a:r>
          </a:p>
          <a:p>
            <a:pPr algn="just"/>
            <a:r>
              <a:rPr lang="en-US" dirty="0">
                <a:latin typeface="Times New Roman" panose="02020603050405020304" pitchFamily="18" charset="0"/>
                <a:cs typeface="Times New Roman" panose="02020603050405020304" pitchFamily="18" charset="0"/>
              </a:rPr>
              <a:t>To sustain life</a:t>
            </a:r>
          </a:p>
          <a:p>
            <a:pPr algn="just"/>
            <a:r>
              <a:rPr lang="en-US" dirty="0">
                <a:latin typeface="Times New Roman" panose="02020603050405020304" pitchFamily="18" charset="0"/>
                <a:cs typeface="Times New Roman" panose="02020603050405020304" pitchFamily="18" charset="0"/>
              </a:rPr>
              <a:t>To prevent , reverse or minimize damage to vital organs.</a:t>
            </a:r>
          </a:p>
          <a:p>
            <a:pPr algn="just"/>
            <a:r>
              <a:rPr lang="en-US" dirty="0">
                <a:latin typeface="Times New Roman" panose="02020603050405020304" pitchFamily="18" charset="0"/>
                <a:cs typeface="Times New Roman" panose="02020603050405020304" pitchFamily="18" charset="0"/>
              </a:rPr>
              <a:t>Develop a mechanism for real-time transmission of sensor data from the patient to a central monitoring system.</a:t>
            </a:r>
          </a:p>
          <a:p>
            <a:pPr algn="just"/>
            <a:r>
              <a:rPr lang="en-US" dirty="0">
                <a:latin typeface="Times New Roman" panose="02020603050405020304" pitchFamily="18" charset="0"/>
                <a:cs typeface="Times New Roman" panose="02020603050405020304" pitchFamily="18" charset="0"/>
              </a:rPr>
              <a:t>Implement an alarm system to alert healthcare providers in case of abnormal vital signs or critical changes in the patient's condition.</a:t>
            </a:r>
          </a:p>
          <a:p>
            <a:pPr algn="just"/>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0736F067-8C52-455D-A2EB-7334F3826D35}"/>
              </a:ext>
            </a:extLst>
          </p:cNvPr>
          <p:cNvSpPr>
            <a:spLocks noGrp="1"/>
          </p:cNvSpPr>
          <p:nvPr>
            <p:ph type="dt" sz="half" idx="10"/>
          </p:nvPr>
        </p:nvSpPr>
        <p:spPr/>
        <p:txBody>
          <a:bodyPr/>
          <a:lstStyle/>
          <a:p>
            <a:fld id="{3C4B63A8-14F6-4E9E-AFF2-A8AED48A61A3}" type="datetime1">
              <a:rPr lang="en-IN" smtClean="0"/>
              <a:t>06-09-2024</a:t>
            </a:fld>
            <a:endParaRPr lang="en-IN"/>
          </a:p>
        </p:txBody>
      </p:sp>
      <p:sp>
        <p:nvSpPr>
          <p:cNvPr id="5" name="Slide Number Placeholder 4">
            <a:extLst>
              <a:ext uri="{FF2B5EF4-FFF2-40B4-BE49-F238E27FC236}">
                <a16:creationId xmlns:a16="http://schemas.microsoft.com/office/drawing/2014/main" xmlns="" id="{4E175BF0-7773-42A1-91BA-32D698D86027}"/>
              </a:ext>
            </a:extLst>
          </p:cNvPr>
          <p:cNvSpPr>
            <a:spLocks noGrp="1"/>
          </p:cNvSpPr>
          <p:nvPr>
            <p:ph type="sldNum" sz="quarter" idx="12"/>
          </p:nvPr>
        </p:nvSpPr>
        <p:spPr/>
        <p:txBody>
          <a:bodyPr/>
          <a:lstStyle/>
          <a:p>
            <a:fld id="{E4371DF9-27D1-4286-99A9-B07A2966053B}" type="slidenum">
              <a:rPr lang="en-IN" smtClean="0"/>
              <a:t>6</a:t>
            </a:fld>
            <a:endParaRPr lang="en-IN"/>
          </a:p>
        </p:txBody>
      </p:sp>
    </p:spTree>
    <p:extLst>
      <p:ext uri="{BB962C8B-B14F-4D97-AF65-F5344CB8AC3E}">
        <p14:creationId xmlns:p14="http://schemas.microsoft.com/office/powerpoint/2010/main" val="25776284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4CE36D-56F4-C89E-DECF-5249A099B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48FAAC4-1C03-8308-23CE-C3E1544E14D4}"/>
              </a:ext>
            </a:extLst>
          </p:cNvPr>
          <p:cNvSpPr>
            <a:spLocks noGrp="1"/>
          </p:cNvSpPr>
          <p:nvPr>
            <p:ph type="title"/>
          </p:nvPr>
        </p:nvSpPr>
        <p:spPr>
          <a:xfrm>
            <a:off x="838200" y="288236"/>
            <a:ext cx="10515600" cy="1083366"/>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Block </a:t>
            </a:r>
            <a:r>
              <a:rPr lang="en-US" sz="4000" b="1" dirty="0" smtClean="0">
                <a:solidFill>
                  <a:srgbClr val="002060"/>
                </a:solidFill>
                <a:latin typeface="Times New Roman" panose="02020603050405020304" pitchFamily="18" charset="0"/>
                <a:cs typeface="Times New Roman" panose="02020603050405020304" pitchFamily="18" charset="0"/>
              </a:rPr>
              <a:t>diagram:</a:t>
            </a:r>
            <a:endParaRPr lang="en-IN" dirty="0"/>
          </a:p>
        </p:txBody>
      </p:sp>
      <p:sp>
        <p:nvSpPr>
          <p:cNvPr id="4" name="Date Placeholder 3">
            <a:extLst>
              <a:ext uri="{FF2B5EF4-FFF2-40B4-BE49-F238E27FC236}">
                <a16:creationId xmlns:a16="http://schemas.microsoft.com/office/drawing/2014/main" xmlns="" id="{B8B07549-4842-40D3-A2D9-59F391A86C9C}"/>
              </a:ext>
            </a:extLst>
          </p:cNvPr>
          <p:cNvSpPr>
            <a:spLocks noGrp="1"/>
          </p:cNvSpPr>
          <p:nvPr>
            <p:ph type="dt" sz="half" idx="10"/>
          </p:nvPr>
        </p:nvSpPr>
        <p:spPr/>
        <p:txBody>
          <a:bodyPr/>
          <a:lstStyle/>
          <a:p>
            <a:fld id="{17CBEF0A-E9E6-44F0-AA83-2DD1089E494C}" type="datetime1">
              <a:rPr lang="en-IN" smtClean="0"/>
              <a:t>06-09-2024</a:t>
            </a:fld>
            <a:endParaRPr lang="en-IN"/>
          </a:p>
        </p:txBody>
      </p:sp>
      <p:sp>
        <p:nvSpPr>
          <p:cNvPr id="6" name="Slide Number Placeholder 5">
            <a:extLst>
              <a:ext uri="{FF2B5EF4-FFF2-40B4-BE49-F238E27FC236}">
                <a16:creationId xmlns:a16="http://schemas.microsoft.com/office/drawing/2014/main" xmlns="" id="{EA3815F2-7BB2-44FE-B34E-08D2D2E713C1}"/>
              </a:ext>
            </a:extLst>
          </p:cNvPr>
          <p:cNvSpPr>
            <a:spLocks noGrp="1"/>
          </p:cNvSpPr>
          <p:nvPr>
            <p:ph type="sldNum" sz="quarter" idx="12"/>
          </p:nvPr>
        </p:nvSpPr>
        <p:spPr/>
        <p:txBody>
          <a:bodyPr/>
          <a:lstStyle/>
          <a:p>
            <a:fld id="{E4371DF9-27D1-4286-99A9-B07A2966053B}" type="slidenum">
              <a:rPr lang="en-IN" smtClean="0"/>
              <a:t>7</a:t>
            </a:fld>
            <a:endParaRPr lang="en-IN"/>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1212574"/>
            <a:ext cx="8567529" cy="5143776"/>
          </a:xfrm>
        </p:spPr>
      </p:pic>
    </p:spTree>
    <p:extLst>
      <p:ext uri="{BB962C8B-B14F-4D97-AF65-F5344CB8AC3E}">
        <p14:creationId xmlns:p14="http://schemas.microsoft.com/office/powerpoint/2010/main" val="15445474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8872EAC-F2DD-7E1F-E5AD-18E7E1922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CF3CC9C-F6B2-5F0C-F8A5-3A854AC0599E}"/>
              </a:ext>
            </a:extLst>
          </p:cNvPr>
          <p:cNvSpPr>
            <a:spLocks noGrp="1"/>
          </p:cNvSpPr>
          <p:nvPr>
            <p:ph type="title"/>
          </p:nvPr>
        </p:nvSpPr>
        <p:spPr>
          <a:xfrm>
            <a:off x="838200" y="618852"/>
            <a:ext cx="10515600" cy="1083366"/>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Components &amp; </a:t>
            </a:r>
            <a:r>
              <a:rPr lang="en-US" sz="4000" b="1" dirty="0" smtClean="0">
                <a:solidFill>
                  <a:srgbClr val="002060"/>
                </a:solidFill>
                <a:latin typeface="Times New Roman" panose="02020603050405020304" pitchFamily="18" charset="0"/>
                <a:cs typeface="Times New Roman" panose="02020603050405020304" pitchFamily="18" charset="0"/>
              </a:rPr>
              <a:t>Specifications:</a:t>
            </a:r>
            <a:r>
              <a:rPr lang="en-US" sz="4400" dirty="0">
                <a:solidFill>
                  <a:srgbClr val="002060"/>
                </a:solidFill>
                <a:latin typeface="Times New Roman" panose="02020603050405020304" pitchFamily="18" charset="0"/>
                <a:cs typeface="Times New Roman" panose="02020603050405020304" pitchFamily="18" charset="0"/>
              </a:rPr>
              <a:t/>
            </a:r>
            <a:br>
              <a:rPr lang="en-US" sz="4400"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F7CDFECB-69B0-C3E8-C0B8-5DE4FA0D45E7}"/>
              </a:ext>
            </a:extLst>
          </p:cNvPr>
          <p:cNvSpPr>
            <a:spLocks noGrp="1"/>
          </p:cNvSpPr>
          <p:nvPr>
            <p:ph idx="1"/>
          </p:nvPr>
        </p:nvSpPr>
        <p:spPr>
          <a:xfrm>
            <a:off x="838200" y="1387823"/>
            <a:ext cx="10515600" cy="4992619"/>
          </a:xfrm>
        </p:spPr>
        <p:txBody>
          <a:bodyPr>
            <a:normAutofit/>
          </a:bodyPr>
          <a:lstStyle/>
          <a:p>
            <a:pPr marL="0" indent="0">
              <a:buNone/>
            </a:pPr>
            <a:r>
              <a:rPr lang="en-US" sz="3000" b="1" dirty="0">
                <a:latin typeface="Times New Roman" panose="02020603050405020304" pitchFamily="18" charset="0"/>
                <a:cs typeface="Times New Roman" panose="02020603050405020304" pitchFamily="18" charset="0"/>
              </a:rPr>
              <a:t>Hardware Specifications :</a:t>
            </a:r>
            <a:endParaRPr lang="en-US" sz="3000" dirty="0">
              <a:latin typeface="Times New Roman" panose="02020603050405020304" pitchFamily="18" charset="0"/>
              <a:cs typeface="Times New Roman" panose="02020603050405020304" pitchFamily="18" charset="0"/>
            </a:endParaRPr>
          </a:p>
          <a:p>
            <a:pPr lvl="0"/>
            <a:r>
              <a:rPr lang="en-US" sz="2600" dirty="0">
                <a:cs typeface="Times New Roman" panose="02020603050405020304" pitchFamily="18" charset="0"/>
              </a:rPr>
              <a:t>Power </a:t>
            </a:r>
            <a:r>
              <a:rPr lang="en-US" sz="2600" dirty="0" smtClean="0">
                <a:cs typeface="Times New Roman" panose="02020603050405020304" pitchFamily="18" charset="0"/>
              </a:rPr>
              <a:t>Supply(9V)</a:t>
            </a:r>
            <a:endParaRPr lang="en-US" sz="2600" dirty="0">
              <a:cs typeface="Times New Roman" panose="02020603050405020304" pitchFamily="18" charset="0"/>
            </a:endParaRPr>
          </a:p>
          <a:p>
            <a:pPr lvl="0"/>
            <a:r>
              <a:rPr lang="en-US" sz="2600" dirty="0">
                <a:cs typeface="Times New Roman" panose="02020603050405020304" pitchFamily="18" charset="0"/>
              </a:rPr>
              <a:t>LCD Display</a:t>
            </a:r>
          </a:p>
          <a:p>
            <a:pPr lvl="0"/>
            <a:r>
              <a:rPr lang="en-US" sz="2600" dirty="0" smtClean="0">
                <a:cs typeface="Times New Roman" panose="02020603050405020304" pitchFamily="18" charset="0"/>
              </a:rPr>
              <a:t>Temperature Sensor(LM35)</a:t>
            </a:r>
            <a:endParaRPr lang="en-US" sz="2600" dirty="0">
              <a:cs typeface="Times New Roman" panose="02020603050405020304" pitchFamily="18" charset="0"/>
            </a:endParaRPr>
          </a:p>
          <a:p>
            <a:pPr lvl="0"/>
            <a:r>
              <a:rPr lang="en-US" sz="2600" dirty="0" smtClean="0">
                <a:cs typeface="Times New Roman" panose="02020603050405020304" pitchFamily="18" charset="0"/>
              </a:rPr>
              <a:t>Pulse rate Sensor</a:t>
            </a:r>
          </a:p>
          <a:p>
            <a:pPr lvl="0"/>
            <a:r>
              <a:rPr lang="en-US" sz="2600" dirty="0" smtClean="0">
                <a:cs typeface="Times New Roman" panose="02020603050405020304" pitchFamily="18" charset="0"/>
              </a:rPr>
              <a:t>WIFI module-ESP8266</a:t>
            </a:r>
          </a:p>
          <a:p>
            <a:pPr lvl="0"/>
            <a:r>
              <a:rPr lang="en-US" sz="2600" dirty="0" smtClean="0">
                <a:cs typeface="Times New Roman" panose="02020603050405020304" pitchFamily="18" charset="0"/>
              </a:rPr>
              <a:t>Arduino UNO</a:t>
            </a:r>
            <a:endParaRPr lang="en-US" sz="2600" dirty="0">
              <a:cs typeface="Times New Roman" panose="02020603050405020304" pitchFamily="18" charset="0"/>
            </a:endParaRPr>
          </a:p>
          <a:p>
            <a:pPr lvl="0"/>
            <a:r>
              <a:rPr lang="en-US" sz="2600" dirty="0" smtClean="0">
                <a:cs typeface="Times New Roman" panose="02020603050405020304" pitchFamily="18" charset="0"/>
              </a:rPr>
              <a:t>Buzzer</a:t>
            </a:r>
          </a:p>
        </p:txBody>
      </p:sp>
      <p:sp>
        <p:nvSpPr>
          <p:cNvPr id="4" name="Date Placeholder 3">
            <a:extLst>
              <a:ext uri="{FF2B5EF4-FFF2-40B4-BE49-F238E27FC236}">
                <a16:creationId xmlns:a16="http://schemas.microsoft.com/office/drawing/2014/main" xmlns="" id="{055210D4-2645-4E2D-AD43-BA4D1B0C34F8}"/>
              </a:ext>
            </a:extLst>
          </p:cNvPr>
          <p:cNvSpPr>
            <a:spLocks noGrp="1"/>
          </p:cNvSpPr>
          <p:nvPr>
            <p:ph type="dt" sz="half" idx="10"/>
          </p:nvPr>
        </p:nvSpPr>
        <p:spPr/>
        <p:txBody>
          <a:bodyPr/>
          <a:lstStyle/>
          <a:p>
            <a:fld id="{FE5AEF49-8E89-4A71-9D53-2B0943E94516}" type="datetime1">
              <a:rPr lang="en-IN" smtClean="0"/>
              <a:t>06-09-2024</a:t>
            </a:fld>
            <a:endParaRPr lang="en-IN"/>
          </a:p>
        </p:txBody>
      </p:sp>
      <p:sp>
        <p:nvSpPr>
          <p:cNvPr id="5" name="Slide Number Placeholder 4">
            <a:extLst>
              <a:ext uri="{FF2B5EF4-FFF2-40B4-BE49-F238E27FC236}">
                <a16:creationId xmlns:a16="http://schemas.microsoft.com/office/drawing/2014/main" xmlns="" id="{DF957BF4-9B30-4554-8501-8D7D45F3BA4C}"/>
              </a:ext>
            </a:extLst>
          </p:cNvPr>
          <p:cNvSpPr>
            <a:spLocks noGrp="1"/>
          </p:cNvSpPr>
          <p:nvPr>
            <p:ph type="sldNum" sz="quarter" idx="12"/>
          </p:nvPr>
        </p:nvSpPr>
        <p:spPr/>
        <p:txBody>
          <a:bodyPr/>
          <a:lstStyle/>
          <a:p>
            <a:fld id="{E4371DF9-27D1-4286-99A9-B07A2966053B}" type="slidenum">
              <a:rPr lang="en-IN" smtClean="0"/>
              <a:t>8</a:t>
            </a:fld>
            <a:endParaRPr lang="en-IN"/>
          </a:p>
        </p:txBody>
      </p:sp>
    </p:spTree>
    <p:extLst>
      <p:ext uri="{BB962C8B-B14F-4D97-AF65-F5344CB8AC3E}">
        <p14:creationId xmlns:p14="http://schemas.microsoft.com/office/powerpoint/2010/main" val="3085370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281"/>
            <a:ext cx="10515600" cy="1325563"/>
          </a:xfrm>
        </p:spPr>
        <p:txBody>
          <a:bodyPr>
            <a:normAutofit/>
          </a:bodyPr>
          <a:lstStyle/>
          <a:p>
            <a:r>
              <a:rPr lang="en-US" sz="3600" b="1" dirty="0" smtClean="0">
                <a:solidFill>
                  <a:srgbClr val="002060"/>
                </a:solidFill>
                <a:latin typeface="Times New Roman" panose="02020603050405020304" pitchFamily="18" charset="0"/>
                <a:cs typeface="Times New Roman" panose="02020603050405020304" pitchFamily="18" charset="0"/>
              </a:rPr>
              <a:t>Hardware testing and implementation stage</a:t>
            </a:r>
            <a:r>
              <a:rPr lang="en-US" sz="3600" b="1" dirty="0" smtClean="0">
                <a:latin typeface="Times New Roman" panose="02020603050405020304" pitchFamily="18" charset="0"/>
                <a:cs typeface="Times New Roman" panose="02020603050405020304" pitchFamily="18" charset="0"/>
              </a:rPr>
              <a:t>:</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1844"/>
            <a:ext cx="10515600" cy="4351338"/>
          </a:xfrm>
        </p:spPr>
        <p:txBody>
          <a:bodyPr/>
          <a:lstStyle/>
          <a:p>
            <a:pPr algn="just"/>
            <a:r>
              <a:rPr lang="en-US" dirty="0">
                <a:latin typeface="Times New Roman" panose="02020603050405020304" pitchFamily="18" charset="0"/>
                <a:cs typeface="Times New Roman" panose="02020603050405020304" pitchFamily="18" charset="0"/>
              </a:rPr>
              <a:t>The hardware testing and implementation stage of our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ICU patient monitoring system involves rigorous testing of the </a:t>
            </a:r>
            <a:r>
              <a:rPr lang="en-US" dirty="0" smtClean="0">
                <a:latin typeface="Times New Roman" panose="02020603050405020304" pitchFamily="18" charset="0"/>
                <a:cs typeface="Times New Roman" panose="02020603050405020304" pitchFamily="18" charset="0"/>
              </a:rPr>
              <a:t>sensors and </a:t>
            </a:r>
            <a:r>
              <a:rPr lang="en-US" dirty="0">
                <a:latin typeface="Times New Roman" panose="02020603050405020304" pitchFamily="18" charset="0"/>
                <a:cs typeface="Times New Roman" panose="02020603050405020304" pitchFamily="18" charset="0"/>
              </a:rPr>
              <a:t>other hardware components to ensure seamless integration and accurate data transmission</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We conduct functional testing of the sensors to ensure precise monitoring of vital signs, such as heart rate, blood pressure, and </a:t>
            </a:r>
            <a:r>
              <a:rPr lang="en-US" dirty="0" smtClean="0">
                <a:latin typeface="Times New Roman" panose="02020603050405020304" pitchFamily="18" charset="0"/>
                <a:cs typeface="Times New Roman" panose="02020603050405020304" pitchFamily="18" charset="0"/>
              </a:rPr>
              <a:t>temperature.</a:t>
            </a:r>
          </a:p>
          <a:p>
            <a:pPr algn="just"/>
            <a:r>
              <a:rPr lang="en-US" dirty="0">
                <a:latin typeface="Times New Roman" panose="02020603050405020304" pitchFamily="18" charset="0"/>
                <a:cs typeface="Times New Roman" panose="02020603050405020304" pitchFamily="18" charset="0"/>
              </a:rPr>
              <a:t>Our team ensures proper </a:t>
            </a:r>
            <a:r>
              <a:rPr lang="en-US" dirty="0" smtClean="0">
                <a:latin typeface="Times New Roman" panose="02020603050405020304" pitchFamily="18" charset="0"/>
                <a:cs typeface="Times New Roman" panose="02020603050405020304" pitchFamily="18" charset="0"/>
              </a:rPr>
              <a:t>installation and </a:t>
            </a:r>
            <a:r>
              <a:rPr lang="en-US" dirty="0">
                <a:latin typeface="Times New Roman" panose="02020603050405020304" pitchFamily="18" charset="0"/>
                <a:cs typeface="Times New Roman" panose="02020603050405020304" pitchFamily="18" charset="0"/>
              </a:rPr>
              <a:t>maintenance of the hardware to guarantee optimal performance and patient safety</a:t>
            </a:r>
            <a:r>
              <a:rPr lang="en-US" dirty="0" smtClean="0"/>
              <a:t>.</a:t>
            </a:r>
            <a:endParaRPr lang="en-US" dirty="0"/>
          </a:p>
        </p:txBody>
      </p:sp>
      <p:sp>
        <p:nvSpPr>
          <p:cNvPr id="4" name="Date Placeholder 3"/>
          <p:cNvSpPr>
            <a:spLocks noGrp="1"/>
          </p:cNvSpPr>
          <p:nvPr>
            <p:ph type="dt" sz="half" idx="10"/>
          </p:nvPr>
        </p:nvSpPr>
        <p:spPr/>
        <p:txBody>
          <a:bodyPr/>
          <a:lstStyle/>
          <a:p>
            <a:fld id="{AA756E84-2239-4073-BFF1-93B2E5A3C486}" type="datetime1">
              <a:rPr lang="en-IN" smtClean="0"/>
              <a:t>06-09-2024</a:t>
            </a:fld>
            <a:endParaRPr lang="en-IN"/>
          </a:p>
        </p:txBody>
      </p:sp>
      <p:sp>
        <p:nvSpPr>
          <p:cNvPr id="5" name="Slide Number Placeholder 4"/>
          <p:cNvSpPr>
            <a:spLocks noGrp="1"/>
          </p:cNvSpPr>
          <p:nvPr>
            <p:ph type="sldNum" sz="quarter" idx="12"/>
          </p:nvPr>
        </p:nvSpPr>
        <p:spPr/>
        <p:txBody>
          <a:bodyPr/>
          <a:lstStyle/>
          <a:p>
            <a:fld id="{E4371DF9-27D1-4286-99A9-B07A2966053B}" type="slidenum">
              <a:rPr lang="en-IN" smtClean="0"/>
              <a:t>9</a:t>
            </a:fld>
            <a:endParaRPr lang="en-IN"/>
          </a:p>
        </p:txBody>
      </p:sp>
    </p:spTree>
    <p:extLst>
      <p:ext uri="{BB962C8B-B14F-4D97-AF65-F5344CB8AC3E}">
        <p14:creationId xmlns:p14="http://schemas.microsoft.com/office/powerpoint/2010/main" val="39269070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739635" y="-705678"/>
            <a:ext cx="10515600" cy="623541"/>
          </a:xfrm>
        </p:spPr>
        <p:txBody>
          <a:bodyPr>
            <a:normAutofit fontScale="90000"/>
          </a:bodyPr>
          <a:lstStyle/>
          <a:p>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59826" y="1597247"/>
            <a:ext cx="4793974" cy="4068057"/>
          </a:xfrm>
          <a:ln>
            <a:solidFill>
              <a:schemeClr val="tx1"/>
            </a:solidFill>
          </a:ln>
        </p:spPr>
      </p:pic>
      <p:sp>
        <p:nvSpPr>
          <p:cNvPr id="4" name="Date Placeholder 3"/>
          <p:cNvSpPr>
            <a:spLocks noGrp="1"/>
          </p:cNvSpPr>
          <p:nvPr>
            <p:ph type="dt" sz="half" idx="10"/>
          </p:nvPr>
        </p:nvSpPr>
        <p:spPr/>
        <p:txBody>
          <a:bodyPr/>
          <a:lstStyle/>
          <a:p>
            <a:fld id="{AA756E84-2239-4073-BFF1-93B2E5A3C486}" type="datetime1">
              <a:rPr lang="en-IN" smtClean="0"/>
              <a:t>06-09-2024</a:t>
            </a:fld>
            <a:endParaRPr lang="en-IN"/>
          </a:p>
        </p:txBody>
      </p:sp>
      <p:sp>
        <p:nvSpPr>
          <p:cNvPr id="5" name="Slide Number Placeholder 4"/>
          <p:cNvSpPr>
            <a:spLocks noGrp="1"/>
          </p:cNvSpPr>
          <p:nvPr>
            <p:ph type="sldNum" sz="quarter" idx="12"/>
          </p:nvPr>
        </p:nvSpPr>
        <p:spPr/>
        <p:txBody>
          <a:bodyPr/>
          <a:lstStyle/>
          <a:p>
            <a:fld id="{E4371DF9-27D1-4286-99A9-B07A2966053B}" type="slidenum">
              <a:rPr lang="en-IN" smtClean="0"/>
              <a:t>10</a:t>
            </a:fld>
            <a:endParaRPr lang="en-IN"/>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13182"/>
            <a:ext cx="4697896" cy="4780721"/>
          </a:xfrm>
          <a:prstGeom prst="rect">
            <a:avLst/>
          </a:prstGeom>
          <a:ln>
            <a:solidFill>
              <a:schemeClr val="tx1"/>
            </a:solidFill>
          </a:ln>
        </p:spPr>
      </p:pic>
    </p:spTree>
    <p:extLst>
      <p:ext uri="{BB962C8B-B14F-4D97-AF65-F5344CB8AC3E}">
        <p14:creationId xmlns:p14="http://schemas.microsoft.com/office/powerpoint/2010/main" val="4677806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356" y="0"/>
            <a:ext cx="10515600" cy="881477"/>
          </a:xfrm>
        </p:spPr>
        <p:txBody>
          <a:bodyPr/>
          <a:lstStyle/>
          <a:p>
            <a:r>
              <a:rPr lang="en-US" b="1" dirty="0">
                <a:solidFill>
                  <a:srgbClr val="002060"/>
                </a:solidFill>
                <a:latin typeface="Times New Roman" panose="02020603050405020304" pitchFamily="18" charset="0"/>
                <a:cs typeface="Times New Roman" panose="02020603050405020304" pitchFamily="18" charset="0"/>
              </a:rPr>
              <a:t>Gantt Chart </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85371942"/>
              </p:ext>
            </p:extLst>
          </p:nvPr>
        </p:nvGraphicFramePr>
        <p:xfrm>
          <a:off x="838200" y="1000677"/>
          <a:ext cx="10515600" cy="5310671"/>
        </p:xfrm>
        <a:graphic>
          <a:graphicData uri="http://schemas.openxmlformats.org/drawingml/2006/table">
            <a:tbl>
              <a:tblPr firstRow="1" bandRow="1">
                <a:tableStyleId>{5940675A-B579-460E-94D1-54222C63F5DA}</a:tableStyleId>
              </a:tblPr>
              <a:tblGrid>
                <a:gridCol w="2262809"/>
                <a:gridCol w="1943431"/>
                <a:gridCol w="2103120"/>
                <a:gridCol w="2103120"/>
                <a:gridCol w="2103120"/>
              </a:tblGrid>
              <a:tr h="9473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00" dirty="0" smtClean="0">
                          <a:effectLst/>
                          <a:latin typeface="Times New Roman" panose="02020603050405020304" pitchFamily="18" charset="0"/>
                          <a:cs typeface="Times New Roman" panose="02020603050405020304" pitchFamily="18" charset="0"/>
                        </a:rPr>
                        <a:t>Reviews</a:t>
                      </a:r>
                    </a:p>
                    <a:p>
                      <a:endParaRPr lang="en-US" dirty="0"/>
                    </a:p>
                  </a:txBody>
                  <a:tcPr/>
                </a:tc>
                <a:tc>
                  <a:txBody>
                    <a:bodyPr/>
                    <a:lstStyle/>
                    <a:p>
                      <a:pPr algn="ctr">
                        <a:lnSpc>
                          <a:spcPct val="107000"/>
                        </a:lnSpc>
                        <a:spcAft>
                          <a:spcPts val="800"/>
                        </a:spcAft>
                      </a:pPr>
                      <a:r>
                        <a:rPr lang="en-IN" sz="1800" b="1" kern="100" dirty="0" smtClean="0">
                          <a:effectLst/>
                          <a:latin typeface="Times New Roman" panose="02020603050405020304" pitchFamily="18" charset="0"/>
                          <a:cs typeface="Times New Roman" panose="02020603050405020304" pitchFamily="18" charset="0"/>
                        </a:rPr>
                        <a:t>Review</a:t>
                      </a:r>
                      <a:r>
                        <a:rPr lang="en-IN" sz="1800" b="1" kern="100" baseline="0" dirty="0" smtClean="0">
                          <a:effectLst/>
                          <a:latin typeface="Times New Roman" panose="02020603050405020304" pitchFamily="18" charset="0"/>
                          <a:cs typeface="Times New Roman" panose="02020603050405020304" pitchFamily="18" charset="0"/>
                        </a:rPr>
                        <a:t> 1</a:t>
                      </a:r>
                      <a:endParaRPr lang="en-IN" sz="1800" b="1" kern="100" dirty="0">
                        <a:effectLst/>
                        <a:latin typeface="Times New Roman" panose="02020603050405020304" pitchFamily="18" charset="0"/>
                        <a:cs typeface="Times New Roman" panose="02020603050405020304" pitchFamily="18" charset="0"/>
                      </a:endParaRPr>
                    </a:p>
                  </a:txBody>
                  <a:tcPr/>
                </a:tc>
                <a:tc>
                  <a:txBody>
                    <a:bodyPr/>
                    <a:lstStyle/>
                    <a:p>
                      <a:pPr algn="ctr">
                        <a:lnSpc>
                          <a:spcPct val="107000"/>
                        </a:lnSpc>
                        <a:spcAft>
                          <a:spcPts val="800"/>
                        </a:spcAft>
                      </a:pPr>
                      <a:r>
                        <a:rPr lang="en-IN" sz="1800" b="1" kern="100" dirty="0" smtClean="0">
                          <a:effectLst/>
                          <a:latin typeface="Times New Roman" panose="02020603050405020304" pitchFamily="18" charset="0"/>
                          <a:cs typeface="Times New Roman" panose="02020603050405020304" pitchFamily="18" charset="0"/>
                        </a:rPr>
                        <a:t>Review</a:t>
                      </a:r>
                      <a:r>
                        <a:rPr lang="en-IN" sz="1800" b="1" kern="100" baseline="0" dirty="0" smtClean="0">
                          <a:effectLst/>
                          <a:latin typeface="Times New Roman" panose="02020603050405020304" pitchFamily="18" charset="0"/>
                          <a:cs typeface="Times New Roman" panose="02020603050405020304" pitchFamily="18" charset="0"/>
                        </a:rPr>
                        <a:t> 2</a:t>
                      </a:r>
                      <a:endParaRPr lang="en-IN" sz="1800" b="1" kern="100" dirty="0">
                        <a:effectLst/>
                        <a:latin typeface="Times New Roman" panose="02020603050405020304" pitchFamily="18" charset="0"/>
                        <a:cs typeface="Times New Roman" panose="02020603050405020304" pitchFamily="18" charset="0"/>
                      </a:endParaRPr>
                    </a:p>
                  </a:txBody>
                  <a:tcPr/>
                </a:tc>
                <a:tc>
                  <a:txBody>
                    <a:bodyPr/>
                    <a:lstStyle/>
                    <a:p>
                      <a:pPr algn="ctr">
                        <a:lnSpc>
                          <a:spcPct val="107000"/>
                        </a:lnSpc>
                        <a:spcAft>
                          <a:spcPts val="800"/>
                        </a:spcAft>
                      </a:pPr>
                      <a:r>
                        <a:rPr lang="en-IN" sz="1800" b="1" kern="100" dirty="0" smtClean="0">
                          <a:effectLst/>
                          <a:latin typeface="Times New Roman" panose="02020603050405020304" pitchFamily="18" charset="0"/>
                          <a:cs typeface="Times New Roman" panose="02020603050405020304" pitchFamily="18" charset="0"/>
                        </a:rPr>
                        <a:t>Review</a:t>
                      </a:r>
                      <a:r>
                        <a:rPr lang="en-IN" sz="1800" b="1" kern="100" baseline="0" dirty="0" smtClean="0">
                          <a:effectLst/>
                          <a:latin typeface="Times New Roman" panose="02020603050405020304" pitchFamily="18" charset="0"/>
                          <a:cs typeface="Times New Roman" panose="02020603050405020304" pitchFamily="18" charset="0"/>
                        </a:rPr>
                        <a:t> 3</a:t>
                      </a:r>
                      <a:endParaRPr lang="en-IN" sz="1800" b="1" kern="100" dirty="0">
                        <a:effectLst/>
                        <a:latin typeface="Times New Roman" panose="02020603050405020304" pitchFamily="18" charset="0"/>
                        <a:cs typeface="Times New Roman" panose="02020603050405020304" pitchFamily="18" charset="0"/>
                      </a:endParaRPr>
                    </a:p>
                  </a:txBody>
                  <a:tcPr/>
                </a:tc>
                <a:tc>
                  <a:txBody>
                    <a:bodyPr/>
                    <a:lstStyle/>
                    <a:p>
                      <a:pPr algn="ctr">
                        <a:lnSpc>
                          <a:spcPct val="107000"/>
                        </a:lnSpc>
                        <a:spcAft>
                          <a:spcPts val="800"/>
                        </a:spcAft>
                      </a:pPr>
                      <a:r>
                        <a:rPr lang="en-IN" sz="1800" b="1" kern="100" dirty="0" smtClean="0">
                          <a:effectLst/>
                          <a:latin typeface="Times New Roman" panose="02020603050405020304" pitchFamily="18" charset="0"/>
                          <a:cs typeface="Times New Roman" panose="02020603050405020304" pitchFamily="18" charset="0"/>
                        </a:rPr>
                        <a:t>Review</a:t>
                      </a:r>
                      <a:r>
                        <a:rPr lang="en-IN" sz="1800" b="1" kern="100" baseline="0" dirty="0" smtClean="0">
                          <a:effectLst/>
                          <a:latin typeface="Times New Roman" panose="02020603050405020304" pitchFamily="18" charset="0"/>
                          <a:cs typeface="Times New Roman" panose="02020603050405020304" pitchFamily="18" charset="0"/>
                        </a:rPr>
                        <a:t> 4</a:t>
                      </a:r>
                      <a:endParaRPr lang="en-IN" sz="1800" b="1" kern="100" dirty="0">
                        <a:effectLst/>
                        <a:latin typeface="Times New Roman" panose="02020603050405020304" pitchFamily="18" charset="0"/>
                        <a:cs typeface="Times New Roman" panose="02020603050405020304" pitchFamily="18" charset="0"/>
                      </a:endParaRPr>
                    </a:p>
                  </a:txBody>
                  <a:tcPr/>
                </a:tc>
              </a:tr>
              <a:tr h="755374">
                <a:tc>
                  <a:txBody>
                    <a:bodyPr/>
                    <a:lstStyle/>
                    <a:p>
                      <a:pPr algn="ctr">
                        <a:lnSpc>
                          <a:spcPct val="107000"/>
                        </a:lnSpc>
                        <a:spcAft>
                          <a:spcPts val="800"/>
                        </a:spcAft>
                      </a:pPr>
                      <a:r>
                        <a:rPr lang="en-IN" sz="1800" kern="100" dirty="0" smtClean="0">
                          <a:effectLst/>
                          <a:latin typeface="Times New Roman" panose="02020603050405020304" pitchFamily="18" charset="0"/>
                          <a:cs typeface="Times New Roman" panose="02020603050405020304" pitchFamily="18" charset="0"/>
                        </a:rPr>
                        <a:t>Abstract Review</a:t>
                      </a:r>
                      <a:endParaRPr lang="en-IN" sz="1800" kern="100" dirty="0">
                        <a:effectLst/>
                        <a:latin typeface="Times New Roman" panose="02020603050405020304" pitchFamily="18" charset="0"/>
                        <a:cs typeface="Times New Roman" panose="02020603050405020304" pitchFamily="18" charset="0"/>
                      </a:endParaRPr>
                    </a:p>
                  </a:txBody>
                  <a:tcPr/>
                </a:tc>
                <a:tc>
                  <a:txBody>
                    <a:bodyPr/>
                    <a:lstStyle/>
                    <a:p>
                      <a:endParaRPr lang="en-US" dirty="0"/>
                    </a:p>
                  </a:txBody>
                  <a:tcPr>
                    <a:solidFill>
                      <a:srgbClr val="00B050"/>
                    </a:solidFill>
                  </a:tcPr>
                </a:tc>
                <a:tc>
                  <a:txBody>
                    <a:bodyPr/>
                    <a:lstStyle/>
                    <a:p>
                      <a:endParaRPr lang="en-US" dirty="0"/>
                    </a:p>
                  </a:txBody>
                  <a:tcPr/>
                </a:tc>
                <a:tc>
                  <a:txBody>
                    <a:bodyPr/>
                    <a:lstStyle/>
                    <a:p>
                      <a:endParaRPr lang="en-US"/>
                    </a:p>
                  </a:txBody>
                  <a:tcPr/>
                </a:tc>
                <a:tc>
                  <a:txBody>
                    <a:bodyPr/>
                    <a:lstStyle/>
                    <a:p>
                      <a:endParaRPr lang="en-US"/>
                    </a:p>
                  </a:txBody>
                  <a:tcPr/>
                </a:tc>
              </a:tr>
              <a:tr h="805070">
                <a:tc>
                  <a:txBody>
                    <a:bodyPr/>
                    <a:lstStyle/>
                    <a:p>
                      <a:pPr algn="ctr">
                        <a:lnSpc>
                          <a:spcPct val="107000"/>
                        </a:lnSpc>
                        <a:spcAft>
                          <a:spcPts val="800"/>
                        </a:spcAft>
                      </a:pPr>
                      <a:r>
                        <a:rPr lang="en-IN" sz="1800" kern="100" dirty="0" smtClean="0">
                          <a:effectLst/>
                          <a:latin typeface="Times New Roman" panose="02020603050405020304" pitchFamily="18" charset="0"/>
                          <a:cs typeface="Times New Roman" panose="02020603050405020304" pitchFamily="18" charset="0"/>
                        </a:rPr>
                        <a:t>Literature Survey</a:t>
                      </a:r>
                      <a:endParaRPr lang="en-IN" sz="1800" kern="100" dirty="0">
                        <a:effectLst/>
                        <a:latin typeface="Times New Roman" panose="02020603050405020304" pitchFamily="18" charset="0"/>
                        <a:cs typeface="Times New Roman" panose="02020603050405020304" pitchFamily="18" charset="0"/>
                      </a:endParaRPr>
                    </a:p>
                  </a:txBody>
                  <a:tcPr/>
                </a:tc>
                <a:tc>
                  <a:txBody>
                    <a:bodyPr/>
                    <a:lstStyle/>
                    <a:p>
                      <a:endParaRPr lang="en-US"/>
                    </a:p>
                  </a:txBody>
                  <a:tcPr/>
                </a:tc>
                <a:tc>
                  <a:txBody>
                    <a:bodyPr/>
                    <a:lstStyle/>
                    <a:p>
                      <a:endParaRPr lang="en-US" dirty="0"/>
                    </a:p>
                  </a:txBody>
                  <a:tcPr>
                    <a:solidFill>
                      <a:srgbClr val="00B050"/>
                    </a:solidFill>
                  </a:tcPr>
                </a:tc>
                <a:tc>
                  <a:txBody>
                    <a:bodyPr/>
                    <a:lstStyle/>
                    <a:p>
                      <a:endParaRPr lang="en-US" dirty="0"/>
                    </a:p>
                  </a:txBody>
                  <a:tcPr>
                    <a:solidFill>
                      <a:srgbClr val="00B050"/>
                    </a:solidFill>
                  </a:tcPr>
                </a:tc>
                <a:tc>
                  <a:txBody>
                    <a:bodyPr/>
                    <a:lstStyle/>
                    <a:p>
                      <a:endParaRPr lang="en-US"/>
                    </a:p>
                  </a:txBody>
                  <a:tcPr/>
                </a:tc>
              </a:tr>
              <a:tr h="370840">
                <a:tc>
                  <a:txBody>
                    <a:bodyPr/>
                    <a:lstStyle/>
                    <a:p>
                      <a:pPr algn="ctr">
                        <a:lnSpc>
                          <a:spcPct val="107000"/>
                        </a:lnSpc>
                        <a:spcAft>
                          <a:spcPts val="800"/>
                        </a:spcAft>
                      </a:pPr>
                      <a:r>
                        <a:rPr lang="en-IN" sz="1800" kern="100" dirty="0" smtClean="0">
                          <a:effectLst/>
                          <a:latin typeface="Times New Roman" panose="02020603050405020304" pitchFamily="18" charset="0"/>
                          <a:cs typeface="Times New Roman" panose="02020603050405020304" pitchFamily="18" charset="0"/>
                        </a:rPr>
                        <a:t>Mathematical Analysis / Model Design  </a:t>
                      </a:r>
                      <a:endParaRPr lang="en-IN" sz="1800" kern="100" dirty="0">
                        <a:effectLst/>
                        <a:latin typeface="Times New Roman" panose="02020603050405020304" pitchFamily="18" charset="0"/>
                        <a:cs typeface="Times New Roman" panose="02020603050405020304" pitchFamily="18" charset="0"/>
                      </a:endParaRPr>
                    </a:p>
                  </a:txBody>
                  <a:tcPr/>
                </a:tc>
                <a:tc>
                  <a:txBody>
                    <a:bodyPr/>
                    <a:lstStyle/>
                    <a:p>
                      <a:endParaRPr lang="en-US"/>
                    </a:p>
                  </a:txBody>
                  <a:tcPr/>
                </a:tc>
                <a:tc>
                  <a:txBody>
                    <a:bodyPr/>
                    <a:lstStyle/>
                    <a:p>
                      <a:endParaRPr lang="en-US"/>
                    </a:p>
                  </a:txBody>
                  <a:tcPr/>
                </a:tc>
                <a:tc>
                  <a:txBody>
                    <a:bodyPr/>
                    <a:lstStyle/>
                    <a:p>
                      <a:endParaRPr lang="en-US" dirty="0"/>
                    </a:p>
                  </a:txBody>
                  <a:tcPr>
                    <a:solidFill>
                      <a:srgbClr val="00B050"/>
                    </a:solidFill>
                  </a:tcPr>
                </a:tc>
                <a:tc>
                  <a:txBody>
                    <a:bodyPr/>
                    <a:lstStyle/>
                    <a:p>
                      <a:endParaRPr lang="en-US"/>
                    </a:p>
                  </a:txBody>
                  <a:tcPr/>
                </a:tc>
              </a:tr>
              <a:tr h="370840">
                <a:tc>
                  <a:txBody>
                    <a:bodyPr/>
                    <a:lstStyle/>
                    <a:p>
                      <a:pPr algn="ctr">
                        <a:lnSpc>
                          <a:spcPct val="107000"/>
                        </a:lnSpc>
                        <a:spcAft>
                          <a:spcPts val="800"/>
                        </a:spcAft>
                      </a:pPr>
                      <a:r>
                        <a:rPr lang="en-IN" sz="1800" kern="100" dirty="0" smtClean="0">
                          <a:effectLst/>
                          <a:latin typeface="Times New Roman" panose="02020603050405020304" pitchFamily="18" charset="0"/>
                          <a:cs typeface="Times New Roman" panose="02020603050405020304" pitchFamily="18" charset="0"/>
                        </a:rPr>
                        <a:t>Component Testing/Simulation Design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endParaRPr lang="en-US"/>
                    </a:p>
                  </a:txBody>
                  <a:tcPr/>
                </a:tc>
                <a:tc>
                  <a:txBody>
                    <a:bodyPr/>
                    <a:lstStyle/>
                    <a:p>
                      <a:endParaRPr lang="en-US"/>
                    </a:p>
                  </a:txBody>
                  <a:tcPr/>
                </a:tc>
                <a:tc>
                  <a:txBody>
                    <a:bodyPr/>
                    <a:lstStyle/>
                    <a:p>
                      <a:endParaRPr lang="en-US" dirty="0"/>
                    </a:p>
                  </a:txBody>
                  <a:tcPr>
                    <a:solidFill>
                      <a:srgbClr val="00B050"/>
                    </a:solidFill>
                  </a:tcPr>
                </a:tc>
                <a:tc>
                  <a:txBody>
                    <a:bodyPr/>
                    <a:lstStyle/>
                    <a:p>
                      <a:endParaRPr lang="en-US"/>
                    </a:p>
                  </a:txBody>
                  <a:tcPr/>
                </a:tc>
              </a:tr>
              <a:tr h="858973">
                <a:tc>
                  <a:txBody>
                    <a:bodyPr/>
                    <a:lstStyle/>
                    <a:p>
                      <a:pPr algn="ctr">
                        <a:lnSpc>
                          <a:spcPct val="107000"/>
                        </a:lnSpc>
                        <a:spcAft>
                          <a:spcPts val="800"/>
                        </a:spcAft>
                      </a:pPr>
                      <a:r>
                        <a:rPr lang="en-IN" sz="1800" kern="100" dirty="0" smtClean="0">
                          <a:effectLst/>
                          <a:latin typeface="Times New Roman" panose="02020603050405020304" pitchFamily="18" charset="0"/>
                          <a:cs typeface="Times New Roman" panose="02020603050405020304" pitchFamily="18" charset="0"/>
                        </a:rPr>
                        <a:t>Hardware/Simulation Implementation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endParaRPr lang="en-US"/>
                    </a:p>
                  </a:txBody>
                  <a:tcPr/>
                </a:tc>
                <a:tc>
                  <a:txBody>
                    <a:bodyPr/>
                    <a:lstStyle/>
                    <a:p>
                      <a:endParaRPr lang="en-US"/>
                    </a:p>
                  </a:txBody>
                  <a:tcPr/>
                </a:tc>
                <a:tc>
                  <a:txBody>
                    <a:bodyPr/>
                    <a:lstStyle/>
                    <a:p>
                      <a:endParaRPr lang="en-US" dirty="0"/>
                    </a:p>
                  </a:txBody>
                  <a:tcPr>
                    <a:solidFill>
                      <a:srgbClr val="00B050"/>
                    </a:solidFill>
                  </a:tcPr>
                </a:tc>
                <a:tc>
                  <a:txBody>
                    <a:bodyPr/>
                    <a:lstStyle/>
                    <a:p>
                      <a:endParaRPr lang="en-US" dirty="0"/>
                    </a:p>
                  </a:txBody>
                  <a:tcPr>
                    <a:solidFill>
                      <a:srgbClr val="C00000"/>
                    </a:solidFill>
                  </a:tcPr>
                </a:tc>
              </a:tr>
            </a:tbl>
          </a:graphicData>
        </a:graphic>
      </p:graphicFrame>
      <p:sp>
        <p:nvSpPr>
          <p:cNvPr id="4" name="Date Placeholder 3"/>
          <p:cNvSpPr>
            <a:spLocks noGrp="1"/>
          </p:cNvSpPr>
          <p:nvPr>
            <p:ph type="dt" sz="half" idx="10"/>
          </p:nvPr>
        </p:nvSpPr>
        <p:spPr/>
        <p:txBody>
          <a:bodyPr/>
          <a:lstStyle/>
          <a:p>
            <a:fld id="{AA756E84-2239-4073-BFF1-93B2E5A3C486}" type="datetime1">
              <a:rPr lang="en-IN" smtClean="0"/>
              <a:t>06-09-2024</a:t>
            </a:fld>
            <a:endParaRPr lang="en-IN"/>
          </a:p>
        </p:txBody>
      </p:sp>
      <p:sp>
        <p:nvSpPr>
          <p:cNvPr id="5" name="Slide Number Placeholder 4"/>
          <p:cNvSpPr>
            <a:spLocks noGrp="1"/>
          </p:cNvSpPr>
          <p:nvPr>
            <p:ph type="sldNum" sz="quarter" idx="12"/>
          </p:nvPr>
        </p:nvSpPr>
        <p:spPr/>
        <p:txBody>
          <a:bodyPr/>
          <a:lstStyle/>
          <a:p>
            <a:fld id="{E4371DF9-27D1-4286-99A9-B07A2966053B}" type="slidenum">
              <a:rPr lang="en-IN" smtClean="0"/>
              <a:t>11</a:t>
            </a:fld>
            <a:endParaRPr lang="en-IN"/>
          </a:p>
        </p:txBody>
      </p:sp>
    </p:spTree>
    <p:extLst>
      <p:ext uri="{BB962C8B-B14F-4D97-AF65-F5344CB8AC3E}">
        <p14:creationId xmlns:p14="http://schemas.microsoft.com/office/powerpoint/2010/main" val="23280373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32C4D9-8CDD-9E3E-5328-1D4DE0029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1319F5D-2296-7D78-009E-BC33CAF79DCC}"/>
              </a:ext>
            </a:extLst>
          </p:cNvPr>
          <p:cNvSpPr>
            <a:spLocks noGrp="1"/>
          </p:cNvSpPr>
          <p:nvPr>
            <p:ph type="title"/>
          </p:nvPr>
        </p:nvSpPr>
        <p:spPr>
          <a:xfrm>
            <a:off x="838200" y="288236"/>
            <a:ext cx="10515600" cy="1083366"/>
          </a:xfrm>
        </p:spPr>
        <p:txBody>
          <a:bodyPr>
            <a:normAutofit/>
          </a:bodyPr>
          <a:lstStyle/>
          <a:p>
            <a:r>
              <a:rPr lang="en-US" sz="4000" b="1" dirty="0" smtClean="0">
                <a:solidFill>
                  <a:srgbClr val="002060"/>
                </a:solidFill>
                <a:latin typeface="Times New Roman" panose="02020603050405020304" pitchFamily="18" charset="0"/>
                <a:cs typeface="Times New Roman" panose="02020603050405020304" pitchFamily="18" charset="0"/>
              </a:rPr>
              <a:t>References: </a:t>
            </a:r>
            <a:endParaRPr lang="en-IN" dirty="0"/>
          </a:p>
        </p:txBody>
      </p:sp>
      <p:sp>
        <p:nvSpPr>
          <p:cNvPr id="4" name="Date Placeholder 3">
            <a:extLst>
              <a:ext uri="{FF2B5EF4-FFF2-40B4-BE49-F238E27FC236}">
                <a16:creationId xmlns:a16="http://schemas.microsoft.com/office/drawing/2014/main" xmlns="" id="{476B4326-A80E-4235-89FF-473E1047ABD9}"/>
              </a:ext>
            </a:extLst>
          </p:cNvPr>
          <p:cNvSpPr>
            <a:spLocks noGrp="1"/>
          </p:cNvSpPr>
          <p:nvPr>
            <p:ph type="dt" sz="half" idx="10"/>
          </p:nvPr>
        </p:nvSpPr>
        <p:spPr/>
        <p:txBody>
          <a:bodyPr/>
          <a:lstStyle/>
          <a:p>
            <a:fld id="{8DE05491-59FE-4555-B7D0-3774CA2904C7}" type="datetime1">
              <a:rPr lang="en-IN" smtClean="0"/>
              <a:t>06-09-2024</a:t>
            </a:fld>
            <a:endParaRPr lang="en-IN"/>
          </a:p>
        </p:txBody>
      </p:sp>
      <p:sp>
        <p:nvSpPr>
          <p:cNvPr id="5" name="Slide Number Placeholder 4">
            <a:extLst>
              <a:ext uri="{FF2B5EF4-FFF2-40B4-BE49-F238E27FC236}">
                <a16:creationId xmlns:a16="http://schemas.microsoft.com/office/drawing/2014/main" xmlns="" id="{05755ADA-241B-4F62-827A-820E35BED6E1}"/>
              </a:ext>
            </a:extLst>
          </p:cNvPr>
          <p:cNvSpPr>
            <a:spLocks noGrp="1"/>
          </p:cNvSpPr>
          <p:nvPr>
            <p:ph type="sldNum" sz="quarter" idx="12"/>
          </p:nvPr>
        </p:nvSpPr>
        <p:spPr/>
        <p:txBody>
          <a:bodyPr/>
          <a:lstStyle/>
          <a:p>
            <a:fld id="{E4371DF9-27D1-4286-99A9-B07A2966053B}" type="slidenum">
              <a:rPr lang="en-IN" smtClean="0"/>
              <a:t>12</a:t>
            </a:fld>
            <a:endParaRPr lang="en-IN"/>
          </a:p>
        </p:txBody>
      </p:sp>
      <p:sp>
        <p:nvSpPr>
          <p:cNvPr id="8" name="Content Placeholder 7"/>
          <p:cNvSpPr>
            <a:spLocks noGrp="1"/>
          </p:cNvSpPr>
          <p:nvPr>
            <p:ph idx="1"/>
          </p:nvPr>
        </p:nvSpPr>
        <p:spPr>
          <a:xfrm>
            <a:off x="838200" y="1527450"/>
            <a:ext cx="10515600" cy="4326697"/>
          </a:xfrm>
        </p:spPr>
        <p:txBody>
          <a:bodyPr>
            <a:noAutofit/>
          </a:bodyPr>
          <a:lstStyle/>
          <a:p>
            <a:pPr algn="just"/>
            <a:r>
              <a:rPr lang="en-US" sz="2400" dirty="0">
                <a:cs typeface="Times New Roman" panose="02020603050405020304" pitchFamily="18" charset="0"/>
              </a:rPr>
              <a:t>"IoT-Based Patient Monitoring System for ICU" by S. S. Rao et al. (2020</a:t>
            </a:r>
            <a:r>
              <a:rPr lang="en-US" sz="2400" dirty="0" smtClean="0">
                <a:cs typeface="Times New Roman" panose="02020603050405020304" pitchFamily="18" charset="0"/>
              </a:rPr>
              <a:t>)</a:t>
            </a:r>
          </a:p>
          <a:p>
            <a:pPr algn="just"/>
            <a:r>
              <a:rPr lang="en-US" sz="2400" dirty="0" smtClean="0">
                <a:cs typeface="Times New Roman" panose="02020603050405020304" pitchFamily="18" charset="0"/>
              </a:rPr>
              <a:t>"Real-Time </a:t>
            </a:r>
            <a:r>
              <a:rPr lang="en-US" sz="2400" dirty="0">
                <a:cs typeface="Times New Roman" panose="02020603050405020304" pitchFamily="18" charset="0"/>
              </a:rPr>
              <a:t>Patient Monitoring System Using IoT" by A. K. Singh et al. (</a:t>
            </a:r>
            <a:r>
              <a:rPr lang="en-US" sz="2400" dirty="0" smtClean="0">
                <a:cs typeface="Times New Roman" panose="02020603050405020304" pitchFamily="18" charset="0"/>
              </a:rPr>
              <a:t>2019)</a:t>
            </a:r>
          </a:p>
          <a:p>
            <a:pPr algn="just"/>
            <a:r>
              <a:rPr lang="en-US" sz="2400" dirty="0" smtClean="0">
                <a:cs typeface="Times New Roman" panose="02020603050405020304" pitchFamily="18" charset="0"/>
              </a:rPr>
              <a:t>"IoT-Based </a:t>
            </a:r>
            <a:r>
              <a:rPr lang="en-US" sz="2400" dirty="0">
                <a:cs typeface="Times New Roman" panose="02020603050405020304" pitchFamily="18" charset="0"/>
              </a:rPr>
              <a:t>Remote Patient Monitoring System for ICU" by M. A. Hussain et al. (2018</a:t>
            </a:r>
            <a:r>
              <a:rPr lang="en-US" sz="2400" dirty="0" smtClean="0">
                <a:cs typeface="Times New Roman" panose="02020603050405020304" pitchFamily="18" charset="0"/>
              </a:rPr>
              <a:t>)</a:t>
            </a:r>
          </a:p>
          <a:p>
            <a:pPr algn="just"/>
            <a:r>
              <a:rPr lang="en-US" sz="2400" dirty="0" smtClean="0">
                <a:cs typeface="Times New Roman" panose="02020603050405020304" pitchFamily="18" charset="0"/>
              </a:rPr>
              <a:t>Mr. </a:t>
            </a:r>
            <a:r>
              <a:rPr lang="en-US" sz="2400" dirty="0">
                <a:cs typeface="Times New Roman" panose="02020603050405020304" pitchFamily="18" charset="0"/>
              </a:rPr>
              <a:t>Alam “IOT Based Patient Health Monitoring Using ESP8266 &amp; Arduino”[June 11,2019] </a:t>
            </a:r>
          </a:p>
          <a:p>
            <a:pPr algn="just"/>
            <a:r>
              <a:rPr lang="en-US" sz="2400" dirty="0" smtClean="0">
                <a:cs typeface="Times New Roman" panose="02020603050405020304" pitchFamily="18" charset="0"/>
              </a:rPr>
              <a:t>Engr Fadhad IoT </a:t>
            </a:r>
            <a:r>
              <a:rPr lang="en-US" sz="2400" dirty="0">
                <a:cs typeface="Times New Roman" panose="02020603050405020304" pitchFamily="18" charset="0"/>
              </a:rPr>
              <a:t>Based Patient Monitoring System Using ESP8266,Arduino &amp;Android Bluetooth App”[August 31,2019</a:t>
            </a:r>
            <a:r>
              <a:rPr lang="en-US" sz="2400" dirty="0" smtClean="0">
                <a:cs typeface="Times New Roman" panose="02020603050405020304" pitchFamily="18" charset="0"/>
              </a:rPr>
              <a:t>]</a:t>
            </a:r>
          </a:p>
          <a:p>
            <a:pPr algn="just"/>
            <a:r>
              <a:rPr lang="en-US" sz="2400" dirty="0">
                <a:cs typeface="Times New Roman" panose="02020603050405020304" pitchFamily="18" charset="0"/>
              </a:rPr>
              <a:t>https://www.engineersgarage.com/what-is-gsm-gprs- module[0ct [11 ,2017] </a:t>
            </a:r>
            <a:endParaRPr lang="en-US" sz="2400" dirty="0" smtClean="0">
              <a:cs typeface="Times New Roman" panose="02020603050405020304" pitchFamily="18" charset="0"/>
            </a:endParaRPr>
          </a:p>
          <a:p>
            <a:pPr algn="just"/>
            <a:r>
              <a:rPr lang="en-US" sz="2400" dirty="0" smtClean="0">
                <a:cs typeface="Times New Roman" panose="02020603050405020304" pitchFamily="18" charset="0"/>
              </a:rPr>
              <a:t>https</a:t>
            </a:r>
            <a:r>
              <a:rPr lang="en-US" sz="2400" dirty="0">
                <a:cs typeface="Times New Roman" panose="02020603050405020304" pitchFamily="18" charset="0"/>
              </a:rPr>
              <a:t>://tkkrlab.nl/wiki/Arduino_37_sensors [Oct 20, 2017</a:t>
            </a:r>
            <a:r>
              <a:rPr lang="en-US" sz="2400" dirty="0" smtClean="0">
                <a:cs typeface="Times New Roman" panose="02020603050405020304" pitchFamily="18" charset="0"/>
              </a:rPr>
              <a:t>]</a:t>
            </a:r>
          </a:p>
        </p:txBody>
      </p:sp>
    </p:spTree>
    <p:extLst>
      <p:ext uri="{BB962C8B-B14F-4D97-AF65-F5344CB8AC3E}">
        <p14:creationId xmlns:p14="http://schemas.microsoft.com/office/powerpoint/2010/main" val="11424631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0363D99-8611-F647-204F-DB80C3B4E99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8796D1E5-4CCE-9DCC-4519-EF09C4B5E8AB}"/>
              </a:ext>
            </a:extLst>
          </p:cNvPr>
          <p:cNvSpPr/>
          <p:nvPr/>
        </p:nvSpPr>
        <p:spPr>
          <a:xfrm>
            <a:off x="1808922" y="1655370"/>
            <a:ext cx="8219661" cy="2862322"/>
          </a:xfrm>
          <a:prstGeom prst="rect">
            <a:avLst/>
          </a:prstGeom>
          <a:noFill/>
        </p:spPr>
        <p:txBody>
          <a:bodyPr wrap="square" lIns="91440" tIns="45720" rIns="91440" bIns="45720">
            <a:spAutoFit/>
          </a:bodyPr>
          <a:lstStyle/>
          <a:p>
            <a:pPr algn="ctr"/>
            <a:r>
              <a:rPr lang="en-IN" sz="6000" b="1" i="0"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rPr>
              <a:t>Thank You</a:t>
            </a:r>
          </a:p>
          <a:p>
            <a:pPr algn="ctr"/>
            <a:r>
              <a:rPr lang="en-IN"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rPr>
              <a:t>&amp; </a:t>
            </a:r>
          </a:p>
          <a:p>
            <a:pPr algn="ctr"/>
            <a:r>
              <a:rPr lang="en-IN"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rPr>
              <a:t>Any Queries ? </a:t>
            </a:r>
            <a:endParaRPr lang="en-IN"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Times New Roman" panose="02020603050405020304" pitchFamily="18" charset="0"/>
            </a:endParaRPr>
          </a:p>
        </p:txBody>
      </p:sp>
      <p:sp>
        <p:nvSpPr>
          <p:cNvPr id="2" name="Date Placeholder 1">
            <a:extLst>
              <a:ext uri="{FF2B5EF4-FFF2-40B4-BE49-F238E27FC236}">
                <a16:creationId xmlns:a16="http://schemas.microsoft.com/office/drawing/2014/main" xmlns="" id="{D34D0AC5-FD72-4152-BEDA-80C680D76AF5}"/>
              </a:ext>
            </a:extLst>
          </p:cNvPr>
          <p:cNvSpPr>
            <a:spLocks noGrp="1"/>
          </p:cNvSpPr>
          <p:nvPr>
            <p:ph type="dt" sz="half" idx="10"/>
          </p:nvPr>
        </p:nvSpPr>
        <p:spPr/>
        <p:txBody>
          <a:bodyPr/>
          <a:lstStyle/>
          <a:p>
            <a:fld id="{98DC223A-AC88-424A-9FE5-CD24ED512B21}" type="datetime1">
              <a:rPr lang="en-IN" smtClean="0"/>
              <a:t>06-09-2024</a:t>
            </a:fld>
            <a:endParaRPr lang="en-IN"/>
          </a:p>
        </p:txBody>
      </p:sp>
      <p:sp>
        <p:nvSpPr>
          <p:cNvPr id="3" name="Slide Number Placeholder 2">
            <a:extLst>
              <a:ext uri="{FF2B5EF4-FFF2-40B4-BE49-F238E27FC236}">
                <a16:creationId xmlns:a16="http://schemas.microsoft.com/office/drawing/2014/main" xmlns="" id="{F94B7B25-798C-448B-A4E6-234EA05440E5}"/>
              </a:ext>
            </a:extLst>
          </p:cNvPr>
          <p:cNvSpPr>
            <a:spLocks noGrp="1"/>
          </p:cNvSpPr>
          <p:nvPr>
            <p:ph type="sldNum" sz="quarter" idx="12"/>
          </p:nvPr>
        </p:nvSpPr>
        <p:spPr/>
        <p:txBody>
          <a:bodyPr/>
          <a:lstStyle/>
          <a:p>
            <a:fld id="{E4371DF9-27D1-4286-99A9-B07A2966053B}" type="slidenum">
              <a:rPr lang="en-IN" smtClean="0"/>
              <a:t>13</a:t>
            </a:fld>
            <a:endParaRPr lang="en-IN"/>
          </a:p>
        </p:txBody>
      </p:sp>
    </p:spTree>
    <p:extLst>
      <p:ext uri="{BB962C8B-B14F-4D97-AF65-F5344CB8AC3E}">
        <p14:creationId xmlns:p14="http://schemas.microsoft.com/office/powerpoint/2010/main" val="22413676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1066</Words>
  <Application>Microsoft Office PowerPoint</Application>
  <PresentationFormat>Widescreen</PresentationFormat>
  <Paragraphs>131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PowerPoint Presentation</vt:lpstr>
      <vt:lpstr>Introduction: </vt:lpstr>
      <vt:lpstr>Literature Review:  </vt:lpstr>
      <vt:lpstr>Problem Statement: </vt:lpstr>
      <vt:lpstr>Objectives: </vt:lpstr>
      <vt:lpstr>Block diagram:</vt:lpstr>
      <vt:lpstr>Components &amp; Specifications: </vt:lpstr>
      <vt:lpstr>Hardware testing and implementation stage:</vt:lpstr>
      <vt:lpstr>PowerPoint Presentation</vt:lpstr>
      <vt:lpstr>Gantt Chart </vt:lpstr>
      <vt:lpstr>References: </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MAHENDRA CHANDU BADE</dc:creator>
  <cp:lastModifiedBy>user</cp:lastModifiedBy>
  <cp:revision>75</cp:revision>
  <dcterms:created xsi:type="dcterms:W3CDTF">2024-02-20T06:05:43Z</dcterms:created>
  <dcterms:modified xsi:type="dcterms:W3CDTF">2024-09-05T19:01:57Z</dcterms:modified>
</cp:coreProperties>
</file>